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2"/>
  </p:sldMasterIdLst>
  <p:notesMasterIdLst>
    <p:notesMasterId r:id="rId36"/>
  </p:notesMasterIdLst>
  <p:handoutMasterIdLst>
    <p:handoutMasterId r:id="rId37"/>
  </p:handoutMasterIdLst>
  <p:sldIdLst>
    <p:sldId id="342" r:id="rId3"/>
    <p:sldId id="434" r:id="rId4"/>
    <p:sldId id="435" r:id="rId5"/>
    <p:sldId id="426" r:id="rId6"/>
    <p:sldId id="427" r:id="rId7"/>
    <p:sldId id="458" r:id="rId8"/>
    <p:sldId id="405" r:id="rId9"/>
    <p:sldId id="445" r:id="rId10"/>
    <p:sldId id="448" r:id="rId11"/>
    <p:sldId id="410" r:id="rId12"/>
    <p:sldId id="449" r:id="rId13"/>
    <p:sldId id="443" r:id="rId14"/>
    <p:sldId id="450" r:id="rId15"/>
    <p:sldId id="413" r:id="rId16"/>
    <p:sldId id="428" r:id="rId17"/>
    <p:sldId id="440" r:id="rId18"/>
    <p:sldId id="452" r:id="rId19"/>
    <p:sldId id="454" r:id="rId20"/>
    <p:sldId id="429" r:id="rId21"/>
    <p:sldId id="455" r:id="rId22"/>
    <p:sldId id="431" r:id="rId23"/>
    <p:sldId id="456" r:id="rId24"/>
    <p:sldId id="441" r:id="rId25"/>
    <p:sldId id="457" r:id="rId26"/>
    <p:sldId id="433" r:id="rId27"/>
    <p:sldId id="421" r:id="rId28"/>
    <p:sldId id="442" r:id="rId29"/>
    <p:sldId id="422" r:id="rId30"/>
    <p:sldId id="424" r:id="rId31"/>
    <p:sldId id="438" r:id="rId32"/>
    <p:sldId id="444" r:id="rId33"/>
    <p:sldId id="406" r:id="rId34"/>
    <p:sldId id="404" r:id="rId3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2A1017D-6DBA-420F-93CE-A8027E8E4739}">
          <p14:sldIdLst>
            <p14:sldId id="342"/>
            <p14:sldId id="434"/>
          </p14:sldIdLst>
        </p14:section>
        <p14:section name="Preface" id="{384D3980-C222-45A2-9548-4A715FAE3BBB}">
          <p14:sldIdLst>
            <p14:sldId id="435"/>
            <p14:sldId id="426"/>
            <p14:sldId id="427"/>
          </p14:sldIdLst>
        </p14:section>
        <p14:section name="Final Project Proposal" id="{71B3E553-5536-4BA9-AEE5-F5689B6E22DE}">
          <p14:sldIdLst>
            <p14:sldId id="458"/>
            <p14:sldId id="405"/>
            <p14:sldId id="445"/>
            <p14:sldId id="448"/>
            <p14:sldId id="410"/>
            <p14:sldId id="449"/>
            <p14:sldId id="443"/>
            <p14:sldId id="450"/>
            <p14:sldId id="413"/>
            <p14:sldId id="428"/>
            <p14:sldId id="440"/>
            <p14:sldId id="452"/>
            <p14:sldId id="454"/>
            <p14:sldId id="429"/>
            <p14:sldId id="455"/>
            <p14:sldId id="431"/>
            <p14:sldId id="456"/>
            <p14:sldId id="441"/>
            <p14:sldId id="457"/>
          </p14:sldIdLst>
        </p14:section>
        <p14:section name="Reminders" id="{755B04A9-FB3C-4AF9-9F8D-1E1276EA5792}">
          <p14:sldIdLst>
            <p14:sldId id="433"/>
            <p14:sldId id="421"/>
            <p14:sldId id="442"/>
            <p14:sldId id="422"/>
            <p14:sldId id="424"/>
            <p14:sldId id="438"/>
            <p14:sldId id="444"/>
            <p14:sldId id="406"/>
            <p14:sldId id="404"/>
          </p14:sldIdLst>
        </p14:section>
        <p14:section name="Another example" id="{580317CD-5B74-40E8-9CB6-D1DA25B36F7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EEFE"/>
    <a:srgbClr val="96EAFE"/>
    <a:srgbClr val="7C5989"/>
    <a:srgbClr val="000066"/>
    <a:srgbClr val="4D6B89"/>
    <a:srgbClr val="384E64"/>
    <a:srgbClr val="274E75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5" autoAdjust="0"/>
    <p:restoredTop sz="93238" autoAdjust="0"/>
  </p:normalViewPr>
  <p:slideViewPr>
    <p:cSldViewPr>
      <p:cViewPr varScale="1">
        <p:scale>
          <a:sx n="125" d="100"/>
          <a:sy n="125" d="100"/>
        </p:scale>
        <p:origin x="125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722A8-24DB-4C62-9C50-1A7D665A0ACD}" type="datetimeFigureOut">
              <a:rPr lang="en-US" smtClean="0"/>
              <a:pPr/>
              <a:t>4/19/26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3C1DA-78F3-4155-B782-B94BFBBE8F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49761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ECC41-AB40-4044-9FC1-CC47A5A6ED32}" type="datetimeFigureOut">
              <a:rPr lang="en-US" smtClean="0"/>
              <a:pPr/>
              <a:t>4/19/26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7E57BD-46E0-4D0B-8236-08AC4EDCC3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236530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5ECE07-C2FA-49DC-BEB1-3CD08689F993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3598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Note: If you are going to make software </a:t>
            </a:r>
            <a:r>
              <a:rPr lang="en-US" altLang="zh-TW" i="1" dirty="0"/>
              <a:t>in general</a:t>
            </a:r>
            <a:r>
              <a:rPr lang="en-US" altLang="zh-TW" i="0" dirty="0"/>
              <a:t> in the future (rather than just games), you can see this section as looking for similar </a:t>
            </a:r>
            <a:r>
              <a:rPr lang="en-US" altLang="zh-TW" i="1" dirty="0"/>
              <a:t>products</a:t>
            </a:r>
            <a:r>
              <a:rPr lang="en-US" altLang="zh-TW" b="0" i="0" dirty="0"/>
              <a:t>.</a:t>
            </a:r>
            <a:endParaRPr lang="zh-TW" altLang="en-US" dirty="0"/>
          </a:p>
        </p:txBody>
      </p:sp>
      <p:sp>
        <p:nvSpPr>
          <p:cNvPr id="4" name="頁首版面配置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78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首版面配置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17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首版面配置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762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首版面配置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86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4896F-7755-466F-8C35-EAFD8CA435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732240" y="6308725"/>
            <a:ext cx="2133600" cy="365125"/>
          </a:xfrm>
        </p:spPr>
        <p:txBody>
          <a:bodyPr/>
          <a:lstStyle/>
          <a:p>
            <a:fld id="{A824896F-7755-466F-8C35-EAFD8CA435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4896F-7755-466F-8C35-EAFD8CA435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4896F-7755-466F-8C35-EAFD8CA435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4896F-7755-466F-8C35-EAFD8CA435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4896F-7755-466F-8C35-EAFD8CA435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4896F-7755-466F-8C35-EAFD8CA435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4896F-7755-466F-8C35-EAFD8CA435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4896F-7755-466F-8C35-EAFD8CA435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4896F-7755-466F-8C35-EAFD8CA435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4896F-7755-466F-8C35-EAFD8CA435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7668344" y="5877272"/>
            <a:ext cx="1391012" cy="926572"/>
            <a:chOff x="3563888" y="4221088"/>
            <a:chExt cx="1391012" cy="926572"/>
          </a:xfrm>
        </p:grpSpPr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563888" y="4221088"/>
              <a:ext cx="936104" cy="9265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4" descr="C:\Users\James\Downloads\GIF\清大LOGO(鳥).gif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4799" y="4511434"/>
              <a:ext cx="900101" cy="4488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4896F-7755-466F-8C35-EAFD8CA4351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9727" y="0"/>
            <a:ext cx="9253727" cy="6858000"/>
          </a:xfrm>
          <a:prstGeom prst="rect">
            <a:avLst/>
          </a:prstGeom>
        </p:spPr>
      </p:pic>
      <p:sp>
        <p:nvSpPr>
          <p:cNvPr id="9" name="標題版面配置區 8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551828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fade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gif"/><Relationship Id="rId4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2001" y="2247564"/>
            <a:ext cx="7772400" cy="1470025"/>
          </a:xfrm>
        </p:spPr>
        <p:txBody>
          <a:bodyPr>
            <a:normAutofit/>
          </a:bodyPr>
          <a:lstStyle/>
          <a:p>
            <a:r>
              <a:rPr kumimoji="1" lang="en-US" altLang="zh-TW" sz="4800" dirty="0"/>
              <a:t>Final Project Proposal</a:t>
            </a:r>
            <a:endParaRPr kumimoji="1" lang="zh-TW" altLang="en-US" sz="48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4077072"/>
            <a:ext cx="6400800" cy="1752600"/>
          </a:xfrm>
        </p:spPr>
        <p:txBody>
          <a:bodyPr>
            <a:normAutofit/>
          </a:bodyPr>
          <a:lstStyle/>
          <a:p>
            <a:r>
              <a:rPr kumimoji="1" lang="en-US" altLang="zh-TW" sz="2800" b="1" dirty="0"/>
              <a:t>Hung-</a:t>
            </a:r>
            <a:r>
              <a:rPr kumimoji="1" lang="en-US" altLang="zh-TW" sz="2800" b="1" dirty="0" err="1"/>
              <a:t>Kuo</a:t>
            </a:r>
            <a:r>
              <a:rPr kumimoji="1" lang="en-US" altLang="zh-TW" sz="2800" b="1" dirty="0"/>
              <a:t> Chu</a:t>
            </a:r>
          </a:p>
          <a:p>
            <a:r>
              <a:rPr kumimoji="1" lang="en-US" altLang="zh-TW" sz="2800" dirty="0"/>
              <a:t>Department of Computer Science</a:t>
            </a:r>
          </a:p>
          <a:p>
            <a:r>
              <a:rPr kumimoji="1" lang="en-US" altLang="zh-TW" sz="2800" dirty="0"/>
              <a:t>National Tsing Hua University</a:t>
            </a:r>
          </a:p>
          <a:p>
            <a:endParaRPr kumimoji="1" lang="zh-TW" altLang="en-US" sz="28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4083132" y="6206642"/>
            <a:ext cx="970137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Stencil Std" pitchFamily="82" charset="0"/>
              </a:rPr>
              <a:t>CS2410</a:t>
            </a: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685800" y="476672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TW" b="0" dirty="0">
                <a:solidFill>
                  <a:srgbClr val="00B050"/>
                </a:solidFill>
              </a:rPr>
              <a:t>Software Studio</a:t>
            </a:r>
            <a:br>
              <a:rPr lang="en-US" altLang="zh-TW" b="0" dirty="0">
                <a:solidFill>
                  <a:srgbClr val="00B050"/>
                </a:solidFill>
              </a:rPr>
            </a:br>
            <a:r>
              <a:rPr lang="zh-TW" altLang="en-US" b="0" dirty="0"/>
              <a:t> </a:t>
            </a:r>
            <a:r>
              <a:rPr lang="zh-TW" altLang="en-US" b="0" dirty="0">
                <a:solidFill>
                  <a:schemeClr val="tx2">
                    <a:lumMod val="60000"/>
                    <a:lumOff val="40000"/>
                  </a:schemeClr>
                </a:solidFill>
                <a:latin typeface="+mj-ea"/>
              </a:rPr>
              <a:t>軟體設計與實驗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11413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Table of Contents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Final Project Introduction</a:t>
            </a:r>
          </a:p>
          <a:p>
            <a:r>
              <a:rPr lang="en-US" altLang="zh-TW" dirty="0"/>
              <a:t>Final Project Proposal</a:t>
            </a:r>
          </a:p>
          <a:p>
            <a:r>
              <a:rPr lang="en-US" altLang="zh-TW" dirty="0"/>
              <a:t>Reminders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7561159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3068960"/>
            <a:ext cx="7772400" cy="1362075"/>
          </a:xfrm>
        </p:spPr>
        <p:txBody>
          <a:bodyPr/>
          <a:lstStyle/>
          <a:p>
            <a:pPr algn="ctr"/>
            <a:r>
              <a:rPr kumimoji="1" lang="en-US" altLang="zh-TW" dirty="0"/>
              <a:t>Final project introduction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8953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About the Final Project…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Make a web game with </a:t>
            </a:r>
            <a:r>
              <a:rPr lang="en-US" altLang="zh-TW" sz="2800" b="1" dirty="0">
                <a:solidFill>
                  <a:srgbClr val="FF0000"/>
                </a:solidFill>
              </a:rPr>
              <a:t>Cocos Creator</a:t>
            </a:r>
            <a:r>
              <a:rPr lang="en-US" altLang="zh-TW" sz="2800" dirty="0"/>
              <a:t>.</a:t>
            </a:r>
          </a:p>
          <a:p>
            <a:r>
              <a:rPr lang="en-US" altLang="zh-TW" sz="2800" dirty="0"/>
              <a:t>Group assignment. 4~5 students per group.</a:t>
            </a:r>
          </a:p>
          <a:p>
            <a:r>
              <a:rPr lang="en-US" altLang="zh-TW" sz="2800" dirty="0"/>
              <a:t>Every group must submit their </a:t>
            </a:r>
            <a:r>
              <a:rPr lang="en-US" altLang="zh-TW" sz="2800" b="1" dirty="0">
                <a:solidFill>
                  <a:srgbClr val="FF0000"/>
                </a:solidFill>
              </a:rPr>
              <a:t>Final Project Proposal</a:t>
            </a:r>
            <a:r>
              <a:rPr lang="en-US" altLang="zh-TW" sz="2800" dirty="0"/>
              <a:t>.</a:t>
            </a:r>
            <a:endParaRPr lang="en-US" altLang="zh-TW" sz="2800" b="1" dirty="0">
              <a:solidFill>
                <a:srgbClr val="FF0000"/>
              </a:solidFill>
            </a:endParaRPr>
          </a:p>
          <a:p>
            <a:r>
              <a:rPr lang="en-US" altLang="zh-TW" sz="2800" dirty="0"/>
              <a:t>Make your slides (.ppt or .pptx), which should include the seven main sections. </a:t>
            </a:r>
            <a:r>
              <a:rPr lang="en-US" altLang="zh-TW" sz="2800" b="1" dirty="0"/>
              <a:t>No restrictions on style, format, or number of pages</a:t>
            </a:r>
            <a:r>
              <a:rPr lang="en-US" altLang="zh-TW" sz="2800" dirty="0"/>
              <a:t>, as long as your slides clearly express your game concept.</a:t>
            </a:r>
          </a:p>
        </p:txBody>
      </p:sp>
    </p:spTree>
    <p:extLst>
      <p:ext uri="{BB962C8B-B14F-4D97-AF65-F5344CB8AC3E}">
        <p14:creationId xmlns:p14="http://schemas.microsoft.com/office/powerpoint/2010/main" val="339202802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400" dirty="0">
                <a:latin typeface="+mn-lt"/>
              </a:rPr>
              <a:t>Why make a proposal?</a:t>
            </a:r>
            <a:endParaRPr lang="zh-TW" altLang="en-US" sz="4400" dirty="0">
              <a:latin typeface="+mn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It will help you </a:t>
            </a:r>
            <a:r>
              <a:rPr lang="en-US" altLang="zh-TW" b="1" dirty="0">
                <a:solidFill>
                  <a:srgbClr val="FF0000"/>
                </a:solidFill>
              </a:rPr>
              <a:t>figure out what your game’s about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It will make you think about your game’s </a:t>
            </a:r>
            <a:r>
              <a:rPr lang="en-US" altLang="zh-TW" b="1" dirty="0">
                <a:solidFill>
                  <a:srgbClr val="FF0000"/>
                </a:solidFill>
              </a:rPr>
              <a:t>strengths and weaknesses</a:t>
            </a:r>
            <a:r>
              <a:rPr lang="en-US" altLang="zh-TW" dirty="0"/>
              <a:t>, as well as </a:t>
            </a:r>
            <a:r>
              <a:rPr lang="en-US" altLang="zh-TW" b="1" dirty="0">
                <a:solidFill>
                  <a:srgbClr val="FF0000"/>
                </a:solidFill>
              </a:rPr>
              <a:t>possible difficulties in development</a:t>
            </a:r>
            <a:r>
              <a:rPr lang="en-US" altLang="zh-TW" dirty="0"/>
              <a:t>.</a:t>
            </a:r>
            <a:endParaRPr lang="en-US" altLang="zh-TW" b="1" dirty="0">
              <a:solidFill>
                <a:srgbClr val="FF0000"/>
              </a:solidFill>
            </a:endParaRPr>
          </a:p>
          <a:p>
            <a:r>
              <a:rPr lang="en-US" altLang="zh-TW"/>
              <a:t>It will </a:t>
            </a:r>
            <a:r>
              <a:rPr lang="en-US" altLang="zh-TW" dirty="0"/>
              <a:t>be a rough blueprint for game design, gradually iterating to become a vision shared by all teammates.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You should know more about your game</a:t>
            </a:r>
            <a:r>
              <a:rPr lang="en-US" altLang="zh-TW" b="1" dirty="0"/>
              <a:t> </a:t>
            </a:r>
            <a:r>
              <a:rPr lang="en-US" altLang="zh-TW" dirty="0"/>
              <a:t>than the teacher and the </a:t>
            </a:r>
            <a:r>
              <a:rPr lang="en-US" altLang="zh-TW" dirty="0" err="1"/>
              <a:t>TAs.</a:t>
            </a:r>
            <a:endParaRPr lang="zh-TW" altLang="en-US" b="1" dirty="0">
              <a:solidFill>
                <a:srgbClr val="FF0000"/>
              </a:solidFill>
            </a:endParaRP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475062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2747962"/>
            <a:ext cx="7772400" cy="1362075"/>
          </a:xfrm>
        </p:spPr>
        <p:txBody>
          <a:bodyPr/>
          <a:lstStyle/>
          <a:p>
            <a:pPr algn="ctr"/>
            <a:r>
              <a:rPr kumimoji="1" lang="en-US" altLang="zh-TW" dirty="0"/>
              <a:t>EXAMPLE</a:t>
            </a:r>
            <a:br>
              <a:rPr kumimoji="1" lang="en-US" altLang="zh-TW" dirty="0"/>
            </a:br>
            <a:r>
              <a:rPr kumimoji="1" lang="en-US" altLang="zh-TW" dirty="0"/>
              <a:t>TAIWANESE STUDENT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3270655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Final Project Proposal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zh-TW" dirty="0"/>
              <a:t>Motivation (</a:t>
            </a:r>
            <a:r>
              <a:rPr kumimoji="1" lang="zh-TW" altLang="en-US" dirty="0"/>
              <a:t>動機</a:t>
            </a:r>
            <a:r>
              <a:rPr kumimoji="1" lang="en-US" altLang="zh-TW" dirty="0"/>
              <a:t>)</a:t>
            </a:r>
            <a:endParaRPr kumimoji="1" lang="zh-TW" altLang="en-US" dirty="0"/>
          </a:p>
          <a:p>
            <a:pPr marL="514350" indent="-514350">
              <a:buFont typeface="+mj-lt"/>
              <a:buAutoNum type="arabicPeriod"/>
            </a:pPr>
            <a:r>
              <a:rPr kumimoji="1" lang="en-US" altLang="zh-TW" dirty="0"/>
              <a:t>User Story (</a:t>
            </a:r>
            <a:r>
              <a:rPr kumimoji="1" lang="zh-TW" altLang="en-US" dirty="0"/>
              <a:t>使用者故事</a:t>
            </a:r>
            <a:r>
              <a:rPr kumimoji="1" lang="en-US" altLang="zh-TW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Setting (</a:t>
            </a:r>
            <a:r>
              <a:rPr kumimoji="1" lang="zh-TW" altLang="en-US" dirty="0">
                <a:solidFill>
                  <a:schemeClr val="bg1">
                    <a:lumMod val="65000"/>
                  </a:schemeClr>
                </a:solidFill>
              </a:rPr>
              <a:t>遊戲背景故事</a:t>
            </a:r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) (Optional)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zh-TW" dirty="0"/>
              <a:t>Controls (</a:t>
            </a:r>
            <a:r>
              <a:rPr kumimoji="1" lang="zh-TW" altLang="en-US" dirty="0"/>
              <a:t>操作方式</a:t>
            </a:r>
            <a:r>
              <a:rPr kumimoji="1" lang="en-US" altLang="zh-TW" dirty="0"/>
              <a:t>)</a:t>
            </a:r>
            <a:endParaRPr kumimoji="1" lang="zh-TW" altLang="en-US" dirty="0"/>
          </a:p>
          <a:p>
            <a:pPr marL="514350" indent="-514350">
              <a:buFont typeface="+mj-lt"/>
              <a:buAutoNum type="arabicPeriod"/>
            </a:pPr>
            <a:r>
              <a:rPr kumimoji="1" lang="en-US" altLang="zh-TW" dirty="0"/>
              <a:t>High Risk Analysis (</a:t>
            </a:r>
            <a:r>
              <a:rPr kumimoji="1" lang="zh-TW" altLang="en-US" dirty="0"/>
              <a:t>高風險分析</a:t>
            </a:r>
            <a:r>
              <a:rPr kumimoji="1" lang="en-US" altLang="zh-TW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zh-TW" dirty="0"/>
              <a:t>High Value Analysis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/>
              <a:t>高價值分析</a:t>
            </a:r>
            <a:r>
              <a:rPr kumimoji="1" lang="en-US" altLang="zh-TW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zh-TW" dirty="0"/>
              <a:t>Similar Games (</a:t>
            </a:r>
            <a:r>
              <a:rPr kumimoji="1" lang="zh-TW" altLang="en-US" dirty="0"/>
              <a:t>市面上類似概念的遊戲</a:t>
            </a:r>
            <a:r>
              <a:rPr kumimoji="1" lang="en-US" altLang="zh-TW" dirty="0"/>
              <a:t>)</a:t>
            </a:r>
            <a:endParaRPr kumimoji="1" lang="zh-TW" altLang="en-US" dirty="0"/>
          </a:p>
          <a:p>
            <a:pPr marL="514350" indent="-514350">
              <a:buFont typeface="+mj-lt"/>
              <a:buAutoNum type="arabicPeriod"/>
            </a:pPr>
            <a:r>
              <a:rPr kumimoji="1" lang="en-US" altLang="zh-TW" dirty="0"/>
              <a:t>Concept Art (</a:t>
            </a:r>
            <a:r>
              <a:rPr kumimoji="1" lang="zh-TW" altLang="en-US" dirty="0"/>
              <a:t>模擬</a:t>
            </a:r>
            <a:r>
              <a:rPr kumimoji="1" lang="en-US" altLang="zh-TW" dirty="0"/>
              <a:t>/</a:t>
            </a:r>
            <a:r>
              <a:rPr kumimoji="1" lang="zh-TW" altLang="en-US" dirty="0"/>
              <a:t>假想畫面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863714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580AFC-B9C7-491F-A2F9-E78949771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 Motivation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BD64E1-67CD-46BA-B1DA-6488D23C5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What made your group want to make </a:t>
            </a:r>
            <a:r>
              <a:rPr lang="en-US" altLang="zh-TW" i="1" dirty="0"/>
              <a:t>this</a:t>
            </a:r>
            <a:r>
              <a:rPr lang="en-US" altLang="zh-TW" dirty="0"/>
              <a:t> game?</a:t>
            </a:r>
          </a:p>
          <a:p>
            <a:r>
              <a:rPr lang="en-US" altLang="zh-TW" dirty="0"/>
              <a:t>Could be a </a:t>
            </a:r>
            <a:r>
              <a:rPr lang="en-US" altLang="zh-TW" i="1" dirty="0"/>
              <a:t>goal</a:t>
            </a:r>
            <a:r>
              <a:rPr lang="en-US" altLang="zh-TW" dirty="0"/>
              <a:t> or a </a:t>
            </a:r>
            <a:r>
              <a:rPr lang="en-US" altLang="zh-TW" i="1" dirty="0"/>
              <a:t>dream</a:t>
            </a:r>
            <a:r>
              <a:rPr lang="en-US" altLang="zh-TW" dirty="0"/>
              <a:t> you want to achieve.</a:t>
            </a:r>
          </a:p>
        </p:txBody>
      </p:sp>
    </p:spTree>
    <p:extLst>
      <p:ext uri="{BB962C8B-B14F-4D97-AF65-F5344CB8AC3E}">
        <p14:creationId xmlns:p14="http://schemas.microsoft.com/office/powerpoint/2010/main" val="209193845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E39672-FCEC-4CDD-B1E4-8B2CC14BD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 Motivation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76867B-C126-4A82-BFA9-1F3F86F00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zh-TW" sz="2800" dirty="0"/>
              <a:t>We often get some information about summer internship. However, we thought that it was hard for us to get an offer just by the provided courses from NTHU.</a:t>
            </a:r>
          </a:p>
          <a:p>
            <a:pPr algn="just"/>
            <a:r>
              <a:rPr lang="en-US" altLang="zh-TW" sz="2800" dirty="0"/>
              <a:t>Thus, we decided to make the thing come true in our game</a:t>
            </a:r>
            <a:r>
              <a:rPr lang="en-US" altLang="zh-TW" sz="2400" dirty="0"/>
              <a:t>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8492537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>
          <a:xfrm>
            <a:off x="1592587" y="2066221"/>
            <a:ext cx="5958826" cy="91810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100" b="1" dirty="0"/>
              <a:t>Narration with the player as the subject.</a:t>
            </a:r>
          </a:p>
          <a:p>
            <a:pPr marL="0" indent="0">
              <a:buNone/>
            </a:pPr>
            <a:r>
              <a:rPr lang="en-US" altLang="zh-TW" sz="2100" b="1" dirty="0"/>
              <a:t>What will the player experience?</a:t>
            </a:r>
            <a:endParaRPr lang="zh-TW" altLang="en-US" sz="2100" b="1" dirty="0"/>
          </a:p>
          <a:p>
            <a:endParaRPr lang="en-US" altLang="zh-TW" sz="2100" b="1" dirty="0"/>
          </a:p>
          <a:p>
            <a:endParaRPr lang="en-US" altLang="zh-TW" sz="2100" b="1" dirty="0"/>
          </a:p>
        </p:txBody>
      </p:sp>
      <p:sp>
        <p:nvSpPr>
          <p:cNvPr id="5" name="矩形 4"/>
          <p:cNvSpPr/>
          <p:nvPr/>
        </p:nvSpPr>
        <p:spPr>
          <a:xfrm>
            <a:off x="1811160" y="4011959"/>
            <a:ext cx="4427815" cy="10618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100" dirty="0"/>
              <a:t>The player plays as a hero who can</a:t>
            </a:r>
            <a:br>
              <a:rPr lang="en-US" altLang="zh-TW" sz="2100" dirty="0"/>
            </a:br>
            <a:r>
              <a:rPr lang="en-US" altLang="zh-TW" sz="2100" dirty="0"/>
              <a:t>grow by gaining EXP from killing</a:t>
            </a:r>
            <a:br>
              <a:rPr lang="en-US" altLang="zh-TW" sz="2100" dirty="0"/>
            </a:br>
            <a:r>
              <a:rPr lang="en-US" altLang="zh-TW" sz="2100" dirty="0"/>
              <a:t>monsters.</a:t>
            </a:r>
            <a:endParaRPr lang="zh-TW" altLang="en-US" sz="2100" dirty="0"/>
          </a:p>
        </p:txBody>
      </p:sp>
      <p:sp>
        <p:nvSpPr>
          <p:cNvPr id="6" name="矩形 5"/>
          <p:cNvSpPr/>
          <p:nvPr/>
        </p:nvSpPr>
        <p:spPr>
          <a:xfrm>
            <a:off x="1811160" y="3158970"/>
            <a:ext cx="4549515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100" dirty="0"/>
              <a:t>You can kill monsters, gain EXP, and</a:t>
            </a:r>
            <a:br>
              <a:rPr lang="en-US" altLang="zh-TW" sz="2100" dirty="0"/>
            </a:br>
            <a:r>
              <a:rPr lang="en-US" altLang="zh-TW" sz="2100" dirty="0"/>
              <a:t>level up in this game.</a:t>
            </a:r>
          </a:p>
        </p:txBody>
      </p:sp>
      <p:sp>
        <p:nvSpPr>
          <p:cNvPr id="8" name="乘號 7"/>
          <p:cNvSpPr/>
          <p:nvPr/>
        </p:nvSpPr>
        <p:spPr>
          <a:xfrm>
            <a:off x="6306687" y="3031142"/>
            <a:ext cx="648072" cy="648072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6434516" y="4185084"/>
            <a:ext cx="392415" cy="3924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400" dirty="0"/>
              <a:t>2. User Story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9340002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4BC9ED-6263-41DC-B078-E1FD13B26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 User Story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A27FDC-A49F-43A2-BDB0-013F902AC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TW" dirty="0"/>
              <a:t>The player plays as a</a:t>
            </a:r>
            <a:r>
              <a:rPr lang="zh-TW" altLang="en-US" dirty="0"/>
              <a:t> </a:t>
            </a:r>
            <a:r>
              <a:rPr lang="en-US" altLang="zh-TW" dirty="0"/>
              <a:t>NTHU CS student.</a:t>
            </a:r>
          </a:p>
          <a:p>
            <a:r>
              <a:rPr lang="en-US" altLang="zh-TW" dirty="0"/>
              <a:t>Through puzzle game (something like midterm or final) in the course, player can get the talent points to unlock new courses. Finally, player can choose a company and go for an interview.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4309463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9EC3DF-17DA-492C-BCD0-CE38C038D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 Setting (Optional)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631A67-2B5F-4C2E-9AE4-9B8333751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The background context of your game.</a:t>
            </a:r>
          </a:p>
          <a:p>
            <a:pPr lvl="1"/>
            <a:r>
              <a:rPr lang="en-US" altLang="zh-TW" dirty="0"/>
              <a:t>What kind of world will the player be thrown into?</a:t>
            </a:r>
          </a:p>
          <a:p>
            <a:r>
              <a:rPr lang="en-US" altLang="zh-TW" dirty="0"/>
              <a:t>This is not a writing contest, so </a:t>
            </a:r>
            <a:r>
              <a:rPr lang="en-US" altLang="zh-TW" b="1" dirty="0">
                <a:solidFill>
                  <a:srgbClr val="FF0000"/>
                </a:solidFill>
              </a:rPr>
              <a:t>don’t write too many pages here!</a:t>
            </a:r>
          </a:p>
          <a:p>
            <a:r>
              <a:rPr lang="en-US" altLang="zh-TW" dirty="0"/>
              <a:t>Try and keep it simple, with just the right amount of detail to get us interested.</a:t>
            </a:r>
          </a:p>
          <a:p>
            <a:r>
              <a:rPr lang="en-US" altLang="zh-TW" dirty="0"/>
              <a:t>Remember, even if you have an award-winning novel as your setting, </a:t>
            </a:r>
            <a:r>
              <a:rPr lang="en-US" altLang="zh-TW" b="1" dirty="0">
                <a:solidFill>
                  <a:srgbClr val="FF0000"/>
                </a:solidFill>
              </a:rPr>
              <a:t>if you can’t show it in your game, it’s worth nothing!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81525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41DD5D-15EA-4FD6-9B4C-6FB27349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 Setting (Optional)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16379-49A5-4BEB-9346-4975C04A8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sz="2800" dirty="0"/>
              <a:t>Going through all kinds of difficulties, I become a NTHU</a:t>
            </a:r>
            <a:r>
              <a:rPr lang="zh-TW" altLang="en-US" sz="2800" dirty="0"/>
              <a:t> </a:t>
            </a:r>
            <a:r>
              <a:rPr lang="en-US" altLang="zh-TW" sz="2800" dirty="0"/>
              <a:t>CS</a:t>
            </a:r>
            <a:r>
              <a:rPr lang="zh-TW" altLang="en-US" sz="2800" dirty="0"/>
              <a:t> </a:t>
            </a:r>
            <a:r>
              <a:rPr lang="en-US" altLang="zh-TW" sz="2800" dirty="0"/>
              <a:t>student. </a:t>
            </a:r>
          </a:p>
          <a:p>
            <a:pPr algn="just"/>
            <a:r>
              <a:rPr lang="en-US" altLang="zh-TW" sz="2800" dirty="0"/>
              <a:t>However, life goes on. What should I do for my future? What is the connection between course selection and prospects after graduation?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134227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>
            <a:extLst>
              <a:ext uri="{FF2B5EF4-FFF2-40B4-BE49-F238E27FC236}">
                <a16:creationId xmlns:a16="http://schemas.microsoft.com/office/drawing/2014/main" id="{FED307AC-8B15-45CB-B9B9-9F15F2D71735}"/>
              </a:ext>
            </a:extLst>
          </p:cNvPr>
          <p:cNvGrpSpPr/>
          <p:nvPr/>
        </p:nvGrpSpPr>
        <p:grpSpPr>
          <a:xfrm>
            <a:off x="1762759" y="2193843"/>
            <a:ext cx="5617553" cy="3342480"/>
            <a:chOff x="3954970" y="1898264"/>
            <a:chExt cx="4208108" cy="3382518"/>
          </a:xfrm>
        </p:grpSpPr>
        <p:sp>
          <p:nvSpPr>
            <p:cNvPr id="44" name="îṥḷiḍé">
              <a:extLst>
                <a:ext uri="{FF2B5EF4-FFF2-40B4-BE49-F238E27FC236}">
                  <a16:creationId xmlns:a16="http://schemas.microsoft.com/office/drawing/2014/main" id="{6F916B91-A303-444F-B1AC-77454762D3DA}"/>
                </a:ext>
              </a:extLst>
            </p:cNvPr>
            <p:cNvSpPr/>
            <p:nvPr/>
          </p:nvSpPr>
          <p:spPr>
            <a:xfrm>
              <a:off x="4368111" y="1898264"/>
              <a:ext cx="3382518" cy="3382518"/>
            </a:xfrm>
            <a:prstGeom prst="donut">
              <a:avLst>
                <a:gd name="adj" fmla="val 624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91440" tIns="45720" rIns="91440" bIns="45720" anchor="ctr"/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25000"/>
              </a:pPr>
              <a:r>
                <a:rPr lang="de-DE" altLang="zh-CN" b="1">
                  <a:sym typeface="Calibri"/>
                </a:rPr>
                <a:t>Text here</a:t>
              </a:r>
              <a:endParaRPr lang="de-DE" altLang="zh-CN" b="1" dirty="0">
                <a:sym typeface="Calibri"/>
              </a:endParaRPr>
            </a:p>
          </p:txBody>
        </p:sp>
        <p:cxnSp>
          <p:nvCxnSpPr>
            <p:cNvPr id="45" name="直接连接符 5">
              <a:extLst>
                <a:ext uri="{FF2B5EF4-FFF2-40B4-BE49-F238E27FC236}">
                  <a16:creationId xmlns:a16="http://schemas.microsoft.com/office/drawing/2014/main" id="{DD34A8D9-EA45-431B-9423-159BDD503100}"/>
                </a:ext>
              </a:extLst>
            </p:cNvPr>
            <p:cNvCxnSpPr>
              <a:cxnSpLocks/>
              <a:stCxn id="51" idx="2"/>
              <a:endCxn id="49" idx="0"/>
            </p:cNvCxnSpPr>
            <p:nvPr/>
          </p:nvCxnSpPr>
          <p:spPr>
            <a:xfrm>
              <a:off x="4840851" y="3589523"/>
              <a:ext cx="2436347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îṥḷiḍé">
              <a:extLst>
                <a:ext uri="{FF2B5EF4-FFF2-40B4-BE49-F238E27FC236}">
                  <a16:creationId xmlns:a16="http://schemas.microsoft.com/office/drawing/2014/main" id="{8EE96CB7-60C9-4419-B6C9-3FF2F8FA17F8}"/>
                </a:ext>
              </a:extLst>
            </p:cNvPr>
            <p:cNvSpPr/>
            <p:nvPr/>
          </p:nvSpPr>
          <p:spPr>
            <a:xfrm>
              <a:off x="5262366" y="2792519"/>
              <a:ext cx="1594007" cy="1594007"/>
            </a:xfrm>
            <a:custGeom>
              <a:avLst/>
              <a:gdLst>
                <a:gd name="connsiteX0" fmla="*/ 0 w 1188002"/>
                <a:gd name="connsiteY0" fmla="*/ 594001 h 1188002"/>
                <a:gd name="connsiteX1" fmla="*/ 594001 w 1188002"/>
                <a:gd name="connsiteY1" fmla="*/ 0 h 1188002"/>
                <a:gd name="connsiteX2" fmla="*/ 1188002 w 1188002"/>
                <a:gd name="connsiteY2" fmla="*/ 594001 h 1188002"/>
                <a:gd name="connsiteX3" fmla="*/ 594001 w 1188002"/>
                <a:gd name="connsiteY3" fmla="*/ 1188002 h 1188002"/>
                <a:gd name="connsiteX4" fmla="*/ 0 w 1188002"/>
                <a:gd name="connsiteY4" fmla="*/ 594001 h 118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8002" h="1188002">
                  <a:moveTo>
                    <a:pt x="0" y="594001"/>
                  </a:moveTo>
                  <a:cubicBezTo>
                    <a:pt x="0" y="265943"/>
                    <a:pt x="265943" y="0"/>
                    <a:pt x="594001" y="0"/>
                  </a:cubicBezTo>
                  <a:cubicBezTo>
                    <a:pt x="922059" y="0"/>
                    <a:pt x="1188002" y="265943"/>
                    <a:pt x="1188002" y="594001"/>
                  </a:cubicBezTo>
                  <a:cubicBezTo>
                    <a:pt x="1188002" y="922059"/>
                    <a:pt x="922059" y="1188002"/>
                    <a:pt x="594001" y="1188002"/>
                  </a:cubicBezTo>
                  <a:cubicBezTo>
                    <a:pt x="265943" y="1188002"/>
                    <a:pt x="0" y="922059"/>
                    <a:pt x="0" y="59400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rgbClr r="0" g="0" b="0"/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25000"/>
              </a:pPr>
              <a:r>
                <a:rPr lang="en-US" altLang="zh-TW" sz="2400" b="1" dirty="0">
                  <a:sym typeface="Calibri"/>
                </a:rPr>
                <a:t>Core Controls</a:t>
              </a:r>
              <a:endParaRPr lang="de-DE" altLang="zh-CN" sz="2400" b="1" dirty="0">
                <a:sym typeface="Calibri"/>
              </a:endParaRPr>
            </a:p>
          </p:txBody>
        </p:sp>
        <p:sp>
          <p:nvSpPr>
            <p:cNvPr id="49" name="iṥḻîḍè">
              <a:extLst>
                <a:ext uri="{FF2B5EF4-FFF2-40B4-BE49-F238E27FC236}">
                  <a16:creationId xmlns:a16="http://schemas.microsoft.com/office/drawing/2014/main" id="{45A17495-0FCB-43A9-8F91-79A8702CCA45}"/>
                </a:ext>
              </a:extLst>
            </p:cNvPr>
            <p:cNvSpPr/>
            <p:nvPr/>
          </p:nvSpPr>
          <p:spPr>
            <a:xfrm>
              <a:off x="7277198" y="3146583"/>
              <a:ext cx="885880" cy="885880"/>
            </a:xfrm>
            <a:custGeom>
              <a:avLst/>
              <a:gdLst>
                <a:gd name="connsiteX0" fmla="*/ 0 w 950965"/>
                <a:gd name="connsiteY0" fmla="*/ 475483 h 950965"/>
                <a:gd name="connsiteX1" fmla="*/ 475483 w 950965"/>
                <a:gd name="connsiteY1" fmla="*/ 0 h 950965"/>
                <a:gd name="connsiteX2" fmla="*/ 950966 w 950965"/>
                <a:gd name="connsiteY2" fmla="*/ 475483 h 950965"/>
                <a:gd name="connsiteX3" fmla="*/ 475483 w 950965"/>
                <a:gd name="connsiteY3" fmla="*/ 950966 h 950965"/>
                <a:gd name="connsiteX4" fmla="*/ 0 w 950965"/>
                <a:gd name="connsiteY4" fmla="*/ 475483 h 950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965" h="950965">
                  <a:moveTo>
                    <a:pt x="0" y="475483"/>
                  </a:moveTo>
                  <a:cubicBezTo>
                    <a:pt x="0" y="212881"/>
                    <a:pt x="212881" y="0"/>
                    <a:pt x="475483" y="0"/>
                  </a:cubicBezTo>
                  <a:cubicBezTo>
                    <a:pt x="738085" y="0"/>
                    <a:pt x="950966" y="212881"/>
                    <a:pt x="950966" y="475483"/>
                  </a:cubicBezTo>
                  <a:cubicBezTo>
                    <a:pt x="950966" y="738085"/>
                    <a:pt x="738085" y="950966"/>
                    <a:pt x="475483" y="950966"/>
                  </a:cubicBezTo>
                  <a:cubicBezTo>
                    <a:pt x="212881" y="950966"/>
                    <a:pt x="0" y="738085"/>
                    <a:pt x="0" y="475483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hemeClr val="accent2">
                <a:hueOff val="-955721"/>
                <a:satOff val="-23029"/>
                <a:lumOff val="-13857"/>
                <a:alphaOff val="0"/>
              </a:schemeClr>
            </a:fillRef>
            <a:effectRef idx="0">
              <a:schemeClr val="accent2">
                <a:hueOff val="-955721"/>
                <a:satOff val="-23029"/>
                <a:lumOff val="-1385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0" rIns="0" bIns="0" anchor="ctr" anchorCtr="1">
              <a:normAutofit/>
            </a:bodyPr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25000"/>
              </a:pPr>
              <a:r>
                <a:rPr lang="en-US" altLang="zh-CN" sz="1600" dirty="0">
                  <a:sym typeface="Calibri"/>
                </a:rPr>
                <a:t>Keyboard</a:t>
              </a:r>
              <a:endParaRPr lang="de-DE" altLang="zh-CN" sz="1400" dirty="0">
                <a:sym typeface="Calibri"/>
              </a:endParaRPr>
            </a:p>
          </p:txBody>
        </p:sp>
        <p:sp>
          <p:nvSpPr>
            <p:cNvPr id="51" name="iṣḷiḋé">
              <a:extLst>
                <a:ext uri="{FF2B5EF4-FFF2-40B4-BE49-F238E27FC236}">
                  <a16:creationId xmlns:a16="http://schemas.microsoft.com/office/drawing/2014/main" id="{E645CACA-3145-4F43-B669-1D23CA0B83E0}"/>
                </a:ext>
              </a:extLst>
            </p:cNvPr>
            <p:cNvSpPr/>
            <p:nvPr/>
          </p:nvSpPr>
          <p:spPr>
            <a:xfrm>
              <a:off x="3954970" y="3146583"/>
              <a:ext cx="885880" cy="885880"/>
            </a:xfrm>
            <a:custGeom>
              <a:avLst/>
              <a:gdLst>
                <a:gd name="connsiteX0" fmla="*/ 0 w 950965"/>
                <a:gd name="connsiteY0" fmla="*/ 475483 h 950965"/>
                <a:gd name="connsiteX1" fmla="*/ 475483 w 950965"/>
                <a:gd name="connsiteY1" fmla="*/ 0 h 950965"/>
                <a:gd name="connsiteX2" fmla="*/ 950966 w 950965"/>
                <a:gd name="connsiteY2" fmla="*/ 475483 h 950965"/>
                <a:gd name="connsiteX3" fmla="*/ 475483 w 950965"/>
                <a:gd name="connsiteY3" fmla="*/ 950966 h 950965"/>
                <a:gd name="connsiteX4" fmla="*/ 0 w 950965"/>
                <a:gd name="connsiteY4" fmla="*/ 475483 h 950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965" h="950965">
                  <a:moveTo>
                    <a:pt x="0" y="475483"/>
                  </a:moveTo>
                  <a:cubicBezTo>
                    <a:pt x="0" y="212881"/>
                    <a:pt x="212881" y="0"/>
                    <a:pt x="475483" y="0"/>
                  </a:cubicBezTo>
                  <a:cubicBezTo>
                    <a:pt x="738085" y="0"/>
                    <a:pt x="950966" y="212881"/>
                    <a:pt x="950966" y="475483"/>
                  </a:cubicBezTo>
                  <a:cubicBezTo>
                    <a:pt x="950966" y="738085"/>
                    <a:pt x="738085" y="950966"/>
                    <a:pt x="475483" y="950966"/>
                  </a:cubicBezTo>
                  <a:cubicBezTo>
                    <a:pt x="212881" y="950966"/>
                    <a:pt x="0" y="738085"/>
                    <a:pt x="0" y="475483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hemeClr val="accent2">
                <a:hueOff val="-955721"/>
                <a:satOff val="-23029"/>
                <a:lumOff val="-13857"/>
                <a:alphaOff val="0"/>
              </a:schemeClr>
            </a:fillRef>
            <a:effectRef idx="0">
              <a:schemeClr val="accent2">
                <a:hueOff val="-955721"/>
                <a:satOff val="-23029"/>
                <a:lumOff val="-1385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0" rIns="0" bIns="0" anchor="ctr" anchorCtr="1">
              <a:normAutofit/>
            </a:bodyPr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25000"/>
              </a:pPr>
              <a:r>
                <a:rPr lang="en-US" altLang="zh-TW" sz="2000" dirty="0">
                  <a:sym typeface="Calibri"/>
                </a:rPr>
                <a:t>Cursor</a:t>
              </a:r>
              <a:endParaRPr lang="de-DE" altLang="zh-CN" sz="2000" dirty="0">
                <a:sym typeface="Calibri"/>
              </a:endParaRP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400" dirty="0"/>
              <a:t>4. Controls</a:t>
            </a:r>
            <a:endParaRPr lang="zh-TW" altLang="en-US" sz="4400" dirty="0"/>
          </a:p>
        </p:txBody>
      </p:sp>
      <p:grpSp>
        <p:nvGrpSpPr>
          <p:cNvPr id="25" name="组合 20">
            <a:extLst>
              <a:ext uri="{FF2B5EF4-FFF2-40B4-BE49-F238E27FC236}">
                <a16:creationId xmlns:a16="http://schemas.microsoft.com/office/drawing/2014/main" id="{FA72EB3D-E09E-48B0-BAA1-3106C094CB92}"/>
              </a:ext>
            </a:extLst>
          </p:cNvPr>
          <p:cNvGrpSpPr/>
          <p:nvPr/>
        </p:nvGrpSpPr>
        <p:grpSpPr>
          <a:xfrm>
            <a:off x="223034" y="2111054"/>
            <a:ext cx="3141111" cy="1097483"/>
            <a:chOff x="8845674" y="435090"/>
            <a:chExt cx="2394033" cy="1097483"/>
          </a:xfrm>
        </p:grpSpPr>
        <p:sp>
          <p:nvSpPr>
            <p:cNvPr id="29" name="Shape 1448">
              <a:extLst>
                <a:ext uri="{FF2B5EF4-FFF2-40B4-BE49-F238E27FC236}">
                  <a16:creationId xmlns:a16="http://schemas.microsoft.com/office/drawing/2014/main" id="{2FD08185-02BE-49DC-B75D-872BF71F80A3}"/>
                </a:ext>
              </a:extLst>
            </p:cNvPr>
            <p:cNvSpPr txBox="1"/>
            <p:nvPr/>
          </p:nvSpPr>
          <p:spPr>
            <a:xfrm>
              <a:off x="8845676" y="435090"/>
              <a:ext cx="2295000" cy="392512"/>
            </a:xfrm>
            <a:prstGeom prst="rect">
              <a:avLst/>
            </a:prstGeom>
            <a:noFill/>
            <a:ln>
              <a:noFill/>
            </a:ln>
          </p:spPr>
          <p:txBody>
            <a:bodyPr lIns="45713" tIns="22850" rIns="45713" bIns="22850" anchor="t" anchorCtr="0">
              <a:noAutofit/>
            </a:bodyPr>
            <a:lstStyle/>
            <a:p>
              <a:pPr>
                <a:buSzPct val="25000"/>
              </a:pPr>
              <a:r>
                <a:rPr lang="en-US" altLang="zh-TW" sz="2400" b="1" dirty="0">
                  <a:sym typeface="Calibri"/>
                </a:rPr>
                <a:t>Cursor</a:t>
              </a:r>
              <a:endParaRPr lang="de-DE" sz="2400" b="1" dirty="0">
                <a:sym typeface="Calibri"/>
              </a:endParaRPr>
            </a:p>
          </p:txBody>
        </p:sp>
        <p:sp>
          <p:nvSpPr>
            <p:cNvPr id="30" name="Shape 1450">
              <a:extLst>
                <a:ext uri="{FF2B5EF4-FFF2-40B4-BE49-F238E27FC236}">
                  <a16:creationId xmlns:a16="http://schemas.microsoft.com/office/drawing/2014/main" id="{328F7B68-9253-45D2-A642-5B74F79B0D92}"/>
                </a:ext>
              </a:extLst>
            </p:cNvPr>
            <p:cNvSpPr txBox="1"/>
            <p:nvPr/>
          </p:nvSpPr>
          <p:spPr>
            <a:xfrm>
              <a:off x="8845674" y="907655"/>
              <a:ext cx="2394033" cy="624918"/>
            </a:xfrm>
            <a:prstGeom prst="rect">
              <a:avLst/>
            </a:prstGeom>
            <a:noFill/>
            <a:ln>
              <a:noFill/>
            </a:ln>
          </p:spPr>
          <p:txBody>
            <a:bodyPr lIns="45713" tIns="22850" rIns="45713" bIns="22850" anchor="t" anchorCtr="0">
              <a:noAutofit/>
            </a:bodyPr>
            <a:lstStyle/>
            <a:p>
              <a:r>
                <a:rPr lang="en-US" altLang="zh-TW" dirty="0"/>
                <a:t>Use mouse to select courses and finish the puzzle game.</a:t>
              </a:r>
              <a:endParaRPr lang="zh-TW" altLang="en-US" dirty="0"/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5609225" y="4652652"/>
            <a:ext cx="3497463" cy="1037517"/>
            <a:chOff x="191154" y="4211652"/>
            <a:chExt cx="4170226" cy="1037517"/>
          </a:xfrm>
        </p:grpSpPr>
        <p:grpSp>
          <p:nvGrpSpPr>
            <p:cNvPr id="26" name="组合 21">
              <a:extLst>
                <a:ext uri="{FF2B5EF4-FFF2-40B4-BE49-F238E27FC236}">
                  <a16:creationId xmlns:a16="http://schemas.microsoft.com/office/drawing/2014/main" id="{8D636C53-0AA5-47B3-8B91-F49419B59118}"/>
                </a:ext>
              </a:extLst>
            </p:cNvPr>
            <p:cNvGrpSpPr/>
            <p:nvPr/>
          </p:nvGrpSpPr>
          <p:grpSpPr>
            <a:xfrm>
              <a:off x="248032" y="4211652"/>
              <a:ext cx="3360923" cy="1017430"/>
              <a:chOff x="8661000" y="1781570"/>
              <a:chExt cx="2561565" cy="1017430"/>
            </a:xfrm>
          </p:grpSpPr>
          <p:sp>
            <p:nvSpPr>
              <p:cNvPr id="27" name="Shape 1448">
                <a:extLst>
                  <a:ext uri="{FF2B5EF4-FFF2-40B4-BE49-F238E27FC236}">
                    <a16:creationId xmlns:a16="http://schemas.microsoft.com/office/drawing/2014/main" id="{55A65AAB-2D68-4038-9288-F6CFB96E3B74}"/>
                  </a:ext>
                </a:extLst>
              </p:cNvPr>
              <p:cNvSpPr txBox="1"/>
              <p:nvPr/>
            </p:nvSpPr>
            <p:spPr>
              <a:xfrm>
                <a:off x="8661000" y="1781570"/>
                <a:ext cx="2561565" cy="392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45713" tIns="22850" rIns="45713" bIns="22850" anchor="t" anchorCtr="0">
                <a:noAutofit/>
              </a:bodyPr>
              <a:lstStyle/>
              <a:p>
                <a:pPr>
                  <a:buSzPct val="25000"/>
                </a:pPr>
                <a:r>
                  <a:rPr lang="en-US" altLang="zh-TW" sz="2400" b="1" dirty="0">
                    <a:sym typeface="Calibri"/>
                  </a:rPr>
                  <a:t>Keyboard</a:t>
                </a:r>
                <a:endParaRPr lang="de-DE" sz="2400" b="1" dirty="0">
                  <a:sym typeface="Calibri"/>
                </a:endParaRPr>
              </a:p>
            </p:txBody>
          </p:sp>
          <p:sp>
            <p:nvSpPr>
              <p:cNvPr id="28" name="Shape 1450">
                <a:extLst>
                  <a:ext uri="{FF2B5EF4-FFF2-40B4-BE49-F238E27FC236}">
                    <a16:creationId xmlns:a16="http://schemas.microsoft.com/office/drawing/2014/main" id="{7C0C1375-E471-48D8-ACC6-E8970C99C297}"/>
                  </a:ext>
                </a:extLst>
              </p:cNvPr>
              <p:cNvSpPr txBox="1"/>
              <p:nvPr/>
            </p:nvSpPr>
            <p:spPr>
              <a:xfrm>
                <a:off x="8661000" y="2174082"/>
                <a:ext cx="2295000" cy="62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45713" tIns="22850" rIns="45713" bIns="22850" anchor="t" anchorCtr="0">
                <a:noAutofit/>
              </a:bodyPr>
              <a:lstStyle/>
              <a:p>
                <a:pPr>
                  <a:lnSpc>
                    <a:spcPct val="150000"/>
                  </a:lnSpc>
                  <a:buSzPct val="25000"/>
                </a:pPr>
                <a:endParaRPr lang="de-DE" sz="1200" dirty="0"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" name="矩形 30"/>
            <p:cNvSpPr/>
            <p:nvPr/>
          </p:nvSpPr>
          <p:spPr>
            <a:xfrm>
              <a:off x="191154" y="4602838"/>
              <a:ext cx="417022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dirty="0">
                  <a:ea typeface="華康中黑體" panose="020B0509000000000000" pitchFamily="49" charset="-120"/>
                </a:rPr>
                <a:t>Player need to use keyboard during playing the puzzle game.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416330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400" dirty="0"/>
              <a:t>5. High Risk Analysis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High Risk:</a:t>
            </a:r>
            <a:r>
              <a:rPr lang="en-US" altLang="zh-TW" dirty="0"/>
              <a:t> The </a:t>
            </a:r>
            <a:r>
              <a:rPr lang="en-US" altLang="zh-TW" b="1" dirty="0">
                <a:solidFill>
                  <a:srgbClr val="FF0000"/>
                </a:solidFill>
              </a:rPr>
              <a:t>core gameplay</a:t>
            </a:r>
            <a:r>
              <a:rPr lang="en-US" altLang="zh-TW" dirty="0"/>
              <a:t> of the entire game. If you can’t implement it, the whole game becomes unplayable.</a:t>
            </a:r>
          </a:p>
          <a:p>
            <a:r>
              <a:rPr lang="en-US" altLang="zh-TW" dirty="0"/>
              <a:t>Some examples:</a:t>
            </a:r>
          </a:p>
          <a:p>
            <a:pPr lvl="1"/>
            <a:r>
              <a:rPr lang="en-US" altLang="zh-TW" i="1" dirty="0"/>
              <a:t>Super Mario Bros</a:t>
            </a:r>
            <a:r>
              <a:rPr lang="en-US" altLang="zh-TW" dirty="0"/>
              <a:t>: Run and jump.</a:t>
            </a:r>
          </a:p>
          <a:p>
            <a:pPr lvl="1"/>
            <a:r>
              <a:rPr lang="en-US" altLang="zh-TW" i="1" dirty="0"/>
              <a:t>Angry Birds</a:t>
            </a:r>
            <a:r>
              <a:rPr lang="en-US" altLang="zh-TW" dirty="0"/>
              <a:t>: Launch birds from a slingshot.</a:t>
            </a:r>
          </a:p>
        </p:txBody>
      </p:sp>
    </p:spTree>
    <p:extLst>
      <p:ext uri="{BB962C8B-B14F-4D97-AF65-F5344CB8AC3E}">
        <p14:creationId xmlns:p14="http://schemas.microsoft.com/office/powerpoint/2010/main" val="414211050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CF69BE-D267-47AD-9A76-AC05355DA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 High Risk Analysis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EA384C-8BA5-4B81-B1C6-4D0187F57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/>
              <a:t>Could also be fundamental requirements the game must satisfy to be fun at all.</a:t>
            </a:r>
          </a:p>
          <a:p>
            <a:r>
              <a:rPr lang="en-US" altLang="zh-TW" sz="3200" dirty="0"/>
              <a:t>Some examples:</a:t>
            </a:r>
          </a:p>
          <a:p>
            <a:pPr lvl="1"/>
            <a:r>
              <a:rPr lang="en-US" altLang="zh-TW" b="1" dirty="0"/>
              <a:t>Good controls </a:t>
            </a:r>
            <a:r>
              <a:rPr lang="en-US" altLang="zh-TW" dirty="0"/>
              <a:t>for a platformer.</a:t>
            </a:r>
          </a:p>
          <a:p>
            <a:pPr lvl="1"/>
            <a:r>
              <a:rPr lang="en-US" altLang="zh-TW" b="1" dirty="0"/>
              <a:t>Interesting puzzle ideas </a:t>
            </a:r>
            <a:r>
              <a:rPr lang="en-US" altLang="zh-TW" dirty="0"/>
              <a:t>for a puzzle game.</a:t>
            </a:r>
          </a:p>
          <a:p>
            <a:r>
              <a:rPr lang="en-US" altLang="zh-TW" sz="3200" dirty="0"/>
              <a:t>You can </a:t>
            </a:r>
            <a:r>
              <a:rPr lang="en-US" altLang="zh-TW" sz="3200" b="1" dirty="0">
                <a:solidFill>
                  <a:srgbClr val="FF0000"/>
                </a:solidFill>
              </a:rPr>
              <a:t>prioritize</a:t>
            </a:r>
            <a:r>
              <a:rPr lang="en-US" altLang="zh-TW" sz="3200" dirty="0"/>
              <a:t> these items in development.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7745625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C09150-34DC-471C-9FDD-9BF9B619A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 High</a:t>
            </a:r>
            <a:r>
              <a:rPr lang="zh-TW" altLang="en-US" dirty="0"/>
              <a:t> </a:t>
            </a:r>
            <a:r>
              <a:rPr lang="en-US" altLang="zh-TW" dirty="0"/>
              <a:t>Risk</a:t>
            </a:r>
            <a:r>
              <a:rPr lang="zh-TW" altLang="en-US" dirty="0"/>
              <a:t> </a:t>
            </a:r>
            <a:r>
              <a:rPr lang="en-US" altLang="zh-TW" dirty="0"/>
              <a:t>Analysis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89AB3B-E8C1-4D5C-A8B9-E88232A61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b="1" dirty="0"/>
              <a:t>Talent Table: </a:t>
            </a:r>
            <a:r>
              <a:rPr lang="en-US" altLang="zh-TW" dirty="0"/>
              <a:t>The player has a talent table that records his/her current all kinds of talent points.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b="1" dirty="0"/>
              <a:t>Courses: </a:t>
            </a:r>
            <a:r>
              <a:rPr lang="en-US" altLang="zh-TW" dirty="0"/>
              <a:t>The player can get different kinds of talents point through different courses.</a:t>
            </a:r>
            <a:endParaRPr lang="zh-TW" alt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altLang="zh-TW" b="1" dirty="0"/>
              <a:t>Puzzle Game:</a:t>
            </a:r>
            <a:r>
              <a:rPr lang="en-US" altLang="zh-TW" dirty="0"/>
              <a:t> The player can get talent points by finishing the puzzle game.</a:t>
            </a:r>
          </a:p>
        </p:txBody>
      </p:sp>
    </p:spTree>
    <p:extLst>
      <p:ext uri="{BB962C8B-B14F-4D97-AF65-F5344CB8AC3E}">
        <p14:creationId xmlns:p14="http://schemas.microsoft.com/office/powerpoint/2010/main" val="356186431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EFCBC1-FA9A-408B-89A5-8A81CF8E4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 High Risk Analysis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3D1764-7788-4315-8AFB-B5BF50092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en-US" altLang="zh-TW" b="1" dirty="0"/>
              <a:t>HP: </a:t>
            </a:r>
            <a:r>
              <a:rPr lang="en-US" altLang="zh-TW" dirty="0"/>
              <a:t>The player need to spend HP selecting courses.</a:t>
            </a:r>
            <a:endParaRPr lang="en-US" altLang="zh-TW" sz="3200" dirty="0"/>
          </a:p>
          <a:p>
            <a:pPr marL="514350" indent="-514350">
              <a:buFont typeface="+mj-lt"/>
              <a:buAutoNum type="arabicPeriod" startAt="4"/>
            </a:pPr>
            <a:r>
              <a:rPr lang="en-US" altLang="zh-CN" b="1" dirty="0"/>
              <a:t>Curriculum</a:t>
            </a:r>
            <a:r>
              <a:rPr lang="en-US" altLang="zh-CN" sz="3200" b="1" dirty="0"/>
              <a:t>:</a:t>
            </a:r>
            <a:r>
              <a:rPr lang="zh-TW" altLang="en-US" sz="3200" dirty="0"/>
              <a:t> </a:t>
            </a:r>
            <a:r>
              <a:rPr lang="en-US" altLang="zh-TW" sz="3200" dirty="0"/>
              <a:t>The player need to arrange his/her own curriculum.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altLang="zh-TW" b="1" dirty="0"/>
              <a:t>Interview: </a:t>
            </a:r>
            <a:r>
              <a:rPr lang="en-US" altLang="zh-TW" dirty="0"/>
              <a:t>The player go for an interview after finishing courses.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9003705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>
            <a:noAutofit/>
          </a:bodyPr>
          <a:lstStyle/>
          <a:p>
            <a:r>
              <a:rPr lang="en-US" altLang="zh-TW" sz="4000" dirty="0"/>
              <a:t>6. High Value Analysis</a:t>
            </a:r>
            <a:endParaRPr lang="zh-TW" altLang="en-US" sz="4000" dirty="0"/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457200" y="1662400"/>
            <a:ext cx="8422859" cy="4483027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>
                <a:solidFill>
                  <a:srgbClr val="FF0000"/>
                </a:solidFill>
              </a:rPr>
              <a:t>High Value:</a:t>
            </a:r>
            <a:r>
              <a:rPr lang="en-US" altLang="zh-TW" dirty="0"/>
              <a:t> After completing core features, completing these features will make the game </a:t>
            </a:r>
            <a:r>
              <a:rPr lang="en-US" altLang="zh-TW" b="1" dirty="0">
                <a:solidFill>
                  <a:srgbClr val="FF0000"/>
                </a:solidFill>
              </a:rPr>
              <a:t>more special or enjoyable</a:t>
            </a:r>
            <a:r>
              <a:rPr lang="en-US" altLang="zh-TW" dirty="0"/>
              <a:t>.</a:t>
            </a:r>
            <a:endParaRPr lang="en-US" altLang="zh-TW" b="1" dirty="0">
              <a:solidFill>
                <a:srgbClr val="FF0000"/>
              </a:solidFill>
            </a:endParaRPr>
          </a:p>
          <a:p>
            <a:r>
              <a:rPr lang="en-US" altLang="zh-TW" dirty="0"/>
              <a:t>Examples:</a:t>
            </a:r>
          </a:p>
          <a:p>
            <a:pPr lvl="1"/>
            <a:r>
              <a:rPr lang="en-US" altLang="zh-TW" i="1" dirty="0"/>
              <a:t>Super Mario Bros</a:t>
            </a:r>
            <a:r>
              <a:rPr lang="en-US" altLang="zh-TW" dirty="0"/>
              <a:t>: Power-ups, flagpole animation.</a:t>
            </a:r>
          </a:p>
          <a:p>
            <a:pPr lvl="1"/>
            <a:r>
              <a:rPr lang="en-US" altLang="zh-TW" i="1" dirty="0"/>
              <a:t>Angry Birds</a:t>
            </a:r>
            <a:r>
              <a:rPr lang="en-US" altLang="zh-TW" dirty="0"/>
              <a:t>: Different bird types with different abilities.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Low priority </a:t>
            </a:r>
            <a:r>
              <a:rPr lang="en-US" altLang="zh-TW" dirty="0"/>
              <a:t>features in game development.</a:t>
            </a:r>
          </a:p>
        </p:txBody>
      </p:sp>
    </p:spTree>
    <p:extLst>
      <p:ext uri="{BB962C8B-B14F-4D97-AF65-F5344CB8AC3E}">
        <p14:creationId xmlns:p14="http://schemas.microsoft.com/office/powerpoint/2010/main" val="87089247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C56AA9-5708-4E4F-8267-ADFD28CF4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 High Value Analysis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E74410-2E65-40E2-A349-2924620DB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b="1" dirty="0"/>
              <a:t>Random Events: </a:t>
            </a:r>
            <a:r>
              <a:rPr lang="en-US" altLang="zh-TW" dirty="0"/>
              <a:t>Add some random events such as romantic story, club activity, or part time job during taking courses.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b="1" dirty="0"/>
              <a:t>Achievement System: </a:t>
            </a:r>
            <a:r>
              <a:rPr lang="en-US" altLang="zh-TW" dirty="0"/>
              <a:t>There is a table that records the player achievement.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b="1" dirty="0"/>
              <a:t>Animation: </a:t>
            </a:r>
            <a:r>
              <a:rPr lang="en-US" altLang="zh-TW" dirty="0"/>
              <a:t>Add opening and closing animation.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30491441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Through observing other games, </a:t>
            </a:r>
            <a:r>
              <a:rPr lang="en-US" altLang="zh-TW" sz="3200" b="1" dirty="0">
                <a:solidFill>
                  <a:srgbClr val="FF0000"/>
                </a:solidFill>
              </a:rPr>
              <a:t>find out possible high-risk </a:t>
            </a:r>
            <a:r>
              <a:rPr lang="en-US" altLang="zh-TW" b="1" dirty="0">
                <a:solidFill>
                  <a:srgbClr val="FF0000"/>
                </a:solidFill>
              </a:rPr>
              <a:t>features and high value features, and figure out the core of the game genre.</a:t>
            </a:r>
            <a:endParaRPr lang="en-US" altLang="zh-TW" sz="3200" b="1" dirty="0">
              <a:solidFill>
                <a:srgbClr val="FF0000"/>
              </a:solidFill>
            </a:endParaRP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7. Similar Games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50469339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DB8E64-C4C0-417F-9DBF-2C3425669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 Similar Games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42F100-6294-4372-9F9C-9DF96B368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Chinese Parents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A138646-7E4A-4445-9472-E9386A6CD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38" y="2161669"/>
            <a:ext cx="7343924" cy="413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0868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28E84B-C647-43EE-A38B-B3FC7B6C3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 Concept Art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E46B58-14DC-4C89-A5C5-018895F69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Everyone on a team might imagine the game differently, even with the same design document.</a:t>
            </a:r>
          </a:p>
          <a:p>
            <a:r>
              <a:rPr lang="en-US" altLang="zh-TW" dirty="0"/>
              <a:t>Some pictures can help </a:t>
            </a:r>
            <a:r>
              <a:rPr lang="en-US" altLang="zh-TW" b="1" dirty="0"/>
              <a:t>bridge the gap between each person’s imagination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You can:</a:t>
            </a:r>
          </a:p>
          <a:p>
            <a:pPr lvl="1"/>
            <a:r>
              <a:rPr lang="en-US" altLang="zh-TW" dirty="0"/>
              <a:t>Draw it yourself.</a:t>
            </a:r>
          </a:p>
          <a:p>
            <a:pPr lvl="1"/>
            <a:r>
              <a:rPr lang="en-US" altLang="zh-TW" dirty="0"/>
              <a:t>Simulate it by hand and record the footage.</a:t>
            </a:r>
          </a:p>
          <a:p>
            <a:pPr lvl="1"/>
            <a:r>
              <a:rPr lang="en-US" altLang="zh-TW" dirty="0"/>
              <a:t>Piece it together from images on the Internet.</a:t>
            </a:r>
          </a:p>
          <a:p>
            <a:pPr lvl="1"/>
            <a:r>
              <a:rPr lang="en-US" altLang="zh-TW" dirty="0"/>
              <a:t>Combine screenshots from existing games.</a:t>
            </a:r>
          </a:p>
        </p:txBody>
      </p:sp>
    </p:spTree>
    <p:extLst>
      <p:ext uri="{BB962C8B-B14F-4D97-AF65-F5344CB8AC3E}">
        <p14:creationId xmlns:p14="http://schemas.microsoft.com/office/powerpoint/2010/main" val="3916105042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8E341C-D6A4-452F-8E02-325305EB7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 Concept Art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9D9C6AD-882E-475E-83B2-512FAD73F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170" y="1772816"/>
            <a:ext cx="4063660" cy="2340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0DDC17C-72B9-4475-88EF-DBB043852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26" y="4112816"/>
            <a:ext cx="4222682" cy="23400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102B2F1-EAA4-4E78-BB56-C61A4BA4E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05" y="4112816"/>
            <a:ext cx="4258097" cy="2340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9AFEEC7C-1660-4C3F-AD2D-6135EFCDB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0974" y="1752078"/>
            <a:ext cx="4072855" cy="237455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C532542-29C9-48C9-B6B4-B1FA4F47AE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2805" y="4112034"/>
            <a:ext cx="4340330" cy="2340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C33375B-5392-4467-BBA8-7CC66AC385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098" y="4112034"/>
            <a:ext cx="4248902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5842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3068960"/>
            <a:ext cx="7772400" cy="1362075"/>
          </a:xfrm>
        </p:spPr>
        <p:txBody>
          <a:bodyPr/>
          <a:lstStyle/>
          <a:p>
            <a:pPr algn="ctr"/>
            <a:r>
              <a:rPr kumimoji="1" lang="en-US" altLang="zh-TW" dirty="0"/>
              <a:t>Reminders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12146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Do </a:t>
            </a:r>
            <a:r>
              <a:rPr lang="en-US" altLang="zh-TW" dirty="0">
                <a:solidFill>
                  <a:srgbClr val="FF0000"/>
                </a:solidFill>
              </a:rPr>
              <a:t>not </a:t>
            </a:r>
            <a:r>
              <a:rPr lang="en-US" altLang="zh-TW" dirty="0"/>
              <a:t>write these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82990" y="1417638"/>
            <a:ext cx="7578020" cy="2318845"/>
          </a:xfrm>
        </p:spPr>
        <p:txBody>
          <a:bodyPr>
            <a:noAutofit/>
          </a:bodyPr>
          <a:lstStyle/>
          <a:p>
            <a:r>
              <a:rPr lang="en-US" altLang="zh-TW" b="1" dirty="0"/>
              <a:t>Gameplay details</a:t>
            </a:r>
            <a:endParaRPr lang="en-US" altLang="zh-TW" sz="3200" b="1" dirty="0"/>
          </a:p>
          <a:p>
            <a:pPr marL="0" indent="0">
              <a:buNone/>
            </a:pPr>
            <a:r>
              <a:rPr lang="en-US" altLang="zh-TW" dirty="0"/>
              <a:t>“In </a:t>
            </a:r>
            <a:r>
              <a:rPr lang="en-US" altLang="zh-TW" i="1" dirty="0"/>
              <a:t>Angry Birds</a:t>
            </a:r>
            <a:r>
              <a:rPr lang="en-US" altLang="zh-TW" dirty="0"/>
              <a:t>, the player can use blue birds after level 1-10, yellow birds after 1-16, black birds after 2-5, ...”</a:t>
            </a:r>
            <a:endParaRPr lang="en-US" altLang="zh-TW" sz="3200" dirty="0"/>
          </a:p>
          <a:p>
            <a:endParaRPr lang="en-US" altLang="zh-TW" sz="3200" dirty="0"/>
          </a:p>
        </p:txBody>
      </p:sp>
      <p:sp>
        <p:nvSpPr>
          <p:cNvPr id="5" name="矩形 4"/>
          <p:cNvSpPr/>
          <p:nvPr/>
        </p:nvSpPr>
        <p:spPr>
          <a:xfrm>
            <a:off x="347018" y="3831122"/>
            <a:ext cx="792171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TW" sz="3200" b="1" dirty="0">
                <a:ea typeface="+mj-ea"/>
              </a:rPr>
              <a:t>Mechanical details</a:t>
            </a:r>
          </a:p>
          <a:p>
            <a:pPr lvl="1"/>
            <a:r>
              <a:rPr lang="en-US" altLang="zh-TW" sz="3200" dirty="0">
                <a:ea typeface="+mj-ea"/>
              </a:rPr>
              <a:t>“In </a:t>
            </a:r>
            <a:r>
              <a:rPr lang="en-US" altLang="zh-TW" sz="3200" i="1" dirty="0">
                <a:ea typeface="+mj-ea"/>
              </a:rPr>
              <a:t>Super Mario Bros</a:t>
            </a:r>
            <a:r>
              <a:rPr lang="en-US" altLang="zh-TW" sz="3200" dirty="0">
                <a:ea typeface="+mj-ea"/>
              </a:rPr>
              <a:t>, the player earns 50 points for breaking bricks, 200 for collecting a coin, 1000 for collecting a power-up, … </a:t>
            </a:r>
          </a:p>
        </p:txBody>
      </p:sp>
      <p:grpSp>
        <p:nvGrpSpPr>
          <p:cNvPr id="10" name="群組 9"/>
          <p:cNvGrpSpPr/>
          <p:nvPr/>
        </p:nvGrpSpPr>
        <p:grpSpPr>
          <a:xfrm>
            <a:off x="861646" y="1417638"/>
            <a:ext cx="7499364" cy="4824900"/>
            <a:chOff x="861646" y="1417638"/>
            <a:chExt cx="7499364" cy="4824900"/>
          </a:xfrm>
        </p:grpSpPr>
        <p:cxnSp>
          <p:nvCxnSpPr>
            <p:cNvPr id="6" name="直線接點 5"/>
            <p:cNvCxnSpPr/>
            <p:nvPr/>
          </p:nvCxnSpPr>
          <p:spPr>
            <a:xfrm flipH="1">
              <a:off x="861646" y="1417638"/>
              <a:ext cx="7407083" cy="4824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接點 6"/>
            <p:cNvCxnSpPr/>
            <p:nvPr/>
          </p:nvCxnSpPr>
          <p:spPr>
            <a:xfrm>
              <a:off x="861646" y="1512277"/>
              <a:ext cx="7499364" cy="473026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99543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EC7BD9-592A-4F37-B9FF-8FE5D6AE6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 the details!</a:t>
            </a:r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BAF82F1E-4E80-4F8C-B5CC-13DC86CE8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93096"/>
          </a:xfrm>
        </p:spPr>
        <p:txBody>
          <a:bodyPr>
            <a:noAutofit/>
          </a:bodyPr>
          <a:lstStyle/>
          <a:p>
            <a:r>
              <a:rPr lang="en-US" altLang="zh-TW" b="1" dirty="0"/>
              <a:t>Gameplay details (abstracted)</a:t>
            </a:r>
            <a:endParaRPr lang="en-US" altLang="zh-TW" sz="3200" b="1" dirty="0"/>
          </a:p>
          <a:p>
            <a:pPr marL="0" indent="0">
              <a:buNone/>
            </a:pPr>
            <a:r>
              <a:rPr lang="en-US" altLang="zh-TW" dirty="0"/>
              <a:t>“In </a:t>
            </a:r>
            <a:r>
              <a:rPr lang="en-US" altLang="zh-TW" i="1" dirty="0"/>
              <a:t>Angry Birds</a:t>
            </a:r>
            <a:r>
              <a:rPr lang="en-US" altLang="zh-TW" dirty="0"/>
              <a:t>, the player can use other birds with different abilities, unlocked as they progress through the game.”</a:t>
            </a:r>
          </a:p>
          <a:p>
            <a:r>
              <a:rPr lang="en-US" altLang="zh-TW" b="1" dirty="0"/>
              <a:t>Mechanical details (abstracted)</a:t>
            </a:r>
          </a:p>
          <a:p>
            <a:pPr marL="0" indent="0">
              <a:buNone/>
            </a:pPr>
            <a:r>
              <a:rPr lang="en-US" altLang="zh-TW" dirty="0"/>
              <a:t>“In </a:t>
            </a:r>
            <a:r>
              <a:rPr lang="en-US" altLang="zh-TW" i="1" dirty="0"/>
              <a:t>Super Mario Bros</a:t>
            </a:r>
            <a:r>
              <a:rPr lang="en-US" altLang="zh-TW" dirty="0"/>
              <a:t>, the player earns score from doing actions </a:t>
            </a:r>
            <a:r>
              <a:rPr lang="en-US" altLang="zh-TW" b="1" dirty="0"/>
              <a:t>such as </a:t>
            </a:r>
            <a:r>
              <a:rPr lang="en-US" altLang="zh-TW" dirty="0"/>
              <a:t>breaking bricks and collecting coins and power-ups.</a:t>
            </a:r>
            <a:endParaRPr lang="en-US" altLang="zh-TW" b="1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sz="3200" b="1" dirty="0"/>
          </a:p>
          <a:p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40975443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 </a:t>
            </a:r>
            <a:r>
              <a:rPr lang="en-US" altLang="zh-TW" dirty="0">
                <a:solidFill>
                  <a:srgbClr val="FF0000"/>
                </a:solidFill>
              </a:rPr>
              <a:t>not </a:t>
            </a:r>
            <a:r>
              <a:rPr lang="en-US" altLang="zh-TW" dirty="0"/>
              <a:t>write these</a:t>
            </a:r>
            <a:endParaRPr kumimoji="1" lang="zh-TW" altLang="en-US" dirty="0"/>
          </a:p>
        </p:txBody>
      </p:sp>
      <p:pic>
        <p:nvPicPr>
          <p:cNvPr id="4" name="圖片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991" y="1675124"/>
            <a:ext cx="6682018" cy="4514660"/>
          </a:xfrm>
          <a:prstGeom prst="rect">
            <a:avLst/>
          </a:prstGeom>
        </p:spPr>
      </p:pic>
      <p:grpSp>
        <p:nvGrpSpPr>
          <p:cNvPr id="5" name="群組 4"/>
          <p:cNvGrpSpPr/>
          <p:nvPr/>
        </p:nvGrpSpPr>
        <p:grpSpPr>
          <a:xfrm>
            <a:off x="861646" y="1417638"/>
            <a:ext cx="7499364" cy="4824900"/>
            <a:chOff x="861646" y="1417638"/>
            <a:chExt cx="7499364" cy="4824900"/>
          </a:xfrm>
        </p:grpSpPr>
        <p:cxnSp>
          <p:nvCxnSpPr>
            <p:cNvPr id="6" name="直線接點 5"/>
            <p:cNvCxnSpPr/>
            <p:nvPr/>
          </p:nvCxnSpPr>
          <p:spPr>
            <a:xfrm flipH="1">
              <a:off x="861646" y="1417638"/>
              <a:ext cx="7407083" cy="4824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接點 6"/>
            <p:cNvCxnSpPr/>
            <p:nvPr/>
          </p:nvCxnSpPr>
          <p:spPr>
            <a:xfrm>
              <a:off x="861646" y="1512277"/>
              <a:ext cx="7499364" cy="473026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66219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Remember…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This is a course about web programming, so we won’t teach everyone how to design award-winning web games.</a:t>
            </a:r>
          </a:p>
          <a:p>
            <a:r>
              <a:rPr lang="en-US" altLang="zh-TW" dirty="0"/>
              <a:t>You will be graded primarily on </a:t>
            </a:r>
            <a:r>
              <a:rPr lang="en-US" altLang="zh-TW" b="1" dirty="0"/>
              <a:t>effort</a:t>
            </a:r>
            <a:r>
              <a:rPr lang="en-US" altLang="zh-TW" dirty="0"/>
              <a:t> and </a:t>
            </a:r>
            <a:r>
              <a:rPr lang="en-US" altLang="zh-TW" b="1" dirty="0"/>
              <a:t>technique</a:t>
            </a:r>
            <a:r>
              <a:rPr lang="en-US" altLang="zh-TW" dirty="0"/>
              <a:t>, and less about how fun the game actually is.</a:t>
            </a:r>
          </a:p>
          <a:p>
            <a:r>
              <a:rPr lang="en-US" altLang="zh-TW" dirty="0"/>
              <a:t>It’s normal to have arguments in discussions!</a:t>
            </a:r>
          </a:p>
          <a:p>
            <a:pPr lvl="1"/>
            <a:r>
              <a:rPr lang="en-US" altLang="zh-TW" dirty="0"/>
              <a:t>A discussion where only one person has opinions is a failed discussion.</a:t>
            </a:r>
          </a:p>
          <a:p>
            <a:r>
              <a:rPr lang="en-US" altLang="zh-TW" dirty="0"/>
              <a:t>Enjoy the process, and you can make a game that you’ll be happy with!</a:t>
            </a:r>
          </a:p>
        </p:txBody>
      </p:sp>
    </p:spTree>
    <p:extLst>
      <p:ext uri="{BB962C8B-B14F-4D97-AF65-F5344CB8AC3E}">
        <p14:creationId xmlns:p14="http://schemas.microsoft.com/office/powerpoint/2010/main" val="3109076196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1E82F6-64B4-4E40-9B6B-273FE6181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Extra Resources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55E0E1-71EF-436A-A4CA-C604F275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As everyone has different level of familiarity with </a:t>
            </a:r>
            <a:r>
              <a:rPr lang="en-US" altLang="zh-TW" b="1" dirty="0"/>
              <a:t>2D video games</a:t>
            </a:r>
            <a:r>
              <a:rPr lang="en-US" altLang="zh-TW" dirty="0"/>
              <a:t> and </a:t>
            </a:r>
            <a:r>
              <a:rPr lang="en-US" altLang="zh-TW" b="1" dirty="0"/>
              <a:t>software development</a:t>
            </a:r>
            <a:r>
              <a:rPr lang="en-US" altLang="zh-TW" dirty="0"/>
              <a:t>, we will provide additional materials to help everyone make a game within about a month.</a:t>
            </a:r>
          </a:p>
          <a:p>
            <a:r>
              <a:rPr lang="en-US" altLang="zh-TW" dirty="0"/>
              <a:t>You can decide whether to check out these materials or not based on your own abilities.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4883097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CA9A62-5020-466C-97EE-7CF42B528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Extra Resources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56A368-F061-4808-B7FC-CEF8E5FB6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We provide extra materials such as:</a:t>
            </a:r>
          </a:p>
          <a:p>
            <a:pPr lvl="1"/>
            <a:r>
              <a:rPr lang="en-US" altLang="zh-TW" dirty="0"/>
              <a:t>An appendix on </a:t>
            </a:r>
            <a:r>
              <a:rPr lang="en-US" altLang="zh-TW" b="1" dirty="0"/>
              <a:t>development</a:t>
            </a:r>
            <a:r>
              <a:rPr lang="en-US" altLang="zh-TW" dirty="0"/>
              <a:t>.</a:t>
            </a:r>
          </a:p>
          <a:p>
            <a:pPr lvl="2"/>
            <a:r>
              <a:rPr lang="en-US" altLang="zh-TW" dirty="0"/>
              <a:t>Goes over version control with Cocos Creator, as well as programming techniques to </a:t>
            </a:r>
            <a:r>
              <a:rPr lang="en-US" altLang="zh-TW" b="1" dirty="0"/>
              <a:t>reduce merge conflicts</a:t>
            </a:r>
            <a:r>
              <a:rPr lang="en-US" altLang="zh-TW" dirty="0"/>
              <a:t> and </a:t>
            </a:r>
            <a:r>
              <a:rPr lang="en-US" altLang="zh-TW" b="1" dirty="0"/>
              <a:t>allow more people to work at the same time.</a:t>
            </a:r>
          </a:p>
          <a:p>
            <a:pPr lvl="1"/>
            <a:r>
              <a:rPr lang="en-US" altLang="zh-TW" dirty="0"/>
              <a:t>An appendix on </a:t>
            </a:r>
            <a:r>
              <a:rPr lang="en-US" altLang="zh-TW" b="1" dirty="0"/>
              <a:t>techniques</a:t>
            </a:r>
            <a:r>
              <a:rPr lang="en-US" altLang="zh-TW" dirty="0"/>
              <a:t>.</a:t>
            </a:r>
          </a:p>
          <a:p>
            <a:pPr lvl="2"/>
            <a:r>
              <a:rPr lang="en-US" altLang="zh-TW" dirty="0"/>
              <a:t>Goes over various 2D game techniques that you can use in your final project.</a:t>
            </a:r>
          </a:p>
          <a:p>
            <a:pPr lvl="1"/>
            <a:r>
              <a:rPr lang="en-US" altLang="zh-TW" dirty="0"/>
              <a:t>A collection of </a:t>
            </a:r>
            <a:r>
              <a:rPr lang="en-US" altLang="zh-TW" b="1" dirty="0"/>
              <a:t>resource sites </a:t>
            </a:r>
            <a:r>
              <a:rPr lang="en-US" altLang="zh-TW" dirty="0"/>
              <a:t>for assets you can use in your game.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38446196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Schedule and Formats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Find your group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before 4/28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(Tue)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23:59.</a:t>
            </a:r>
            <a:endParaRPr lang="en-US" altLang="zh-TW" dirty="0"/>
          </a:p>
          <a:p>
            <a:r>
              <a:rPr lang="en-US" altLang="zh-TW" b="1" dirty="0"/>
              <a:t>Submit your proposal </a:t>
            </a:r>
            <a:r>
              <a:rPr lang="en-US" altLang="zh-TW" b="1" dirty="0">
                <a:solidFill>
                  <a:srgbClr val="FF0000"/>
                </a:solidFill>
              </a:rPr>
              <a:t>before 5/5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(Tue)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23:59.</a:t>
            </a:r>
            <a:endParaRPr lang="en-US" altLang="zh-TW" dirty="0"/>
          </a:p>
          <a:p>
            <a:pPr lvl="1"/>
            <a:r>
              <a:rPr lang="en-US" altLang="zh-TW" dirty="0"/>
              <a:t>Upload to </a:t>
            </a:r>
            <a:r>
              <a:rPr lang="en-US" altLang="zh-TW" b="1" dirty="0" err="1">
                <a:solidFill>
                  <a:srgbClr val="FF0000"/>
                </a:solidFill>
              </a:rPr>
              <a:t>eeclass</a:t>
            </a:r>
            <a:r>
              <a:rPr lang="en-US" altLang="zh-TW" dirty="0"/>
              <a:t> as </a:t>
            </a:r>
            <a:r>
              <a:rPr lang="en-US" altLang="zh-TW" b="1" dirty="0">
                <a:solidFill>
                  <a:srgbClr val="FF0000"/>
                </a:solidFill>
              </a:rPr>
              <a:t>group assignment. (5%)</a:t>
            </a:r>
          </a:p>
          <a:p>
            <a:pPr lvl="1"/>
            <a:r>
              <a:rPr lang="en-US" altLang="zh-TW" dirty="0"/>
              <a:t>You get a zero for late submission, but </a:t>
            </a:r>
            <a:r>
              <a:rPr lang="en-US" altLang="zh-TW" b="1" dirty="0"/>
              <a:t>you must still submit even if you are late.</a:t>
            </a:r>
          </a:p>
          <a:p>
            <a:r>
              <a:rPr lang="en-US" altLang="zh-TW" dirty="0"/>
              <a:t>Filename: </a:t>
            </a:r>
            <a:r>
              <a:rPr lang="en-US" altLang="zh-TW" b="1" dirty="0" err="1">
                <a:solidFill>
                  <a:srgbClr val="FF0000"/>
                </a:solidFill>
              </a:rPr>
              <a:t>Group_xx_</a:t>
            </a:r>
            <a:r>
              <a:rPr kumimoji="1" lang="en-US" altLang="zh-TW" b="1" dirty="0" err="1">
                <a:solidFill>
                  <a:srgbClr val="FF0000"/>
                </a:solidFill>
              </a:rPr>
              <a:t>WebGame.pptx</a:t>
            </a:r>
            <a:endParaRPr kumimoji="1" lang="en-US" altLang="zh-TW" b="1" dirty="0">
              <a:solidFill>
                <a:srgbClr val="FF0000"/>
              </a:solidFill>
            </a:endParaRPr>
          </a:p>
          <a:p>
            <a:pPr lvl="1"/>
            <a:r>
              <a:rPr kumimoji="1" lang="en-US" altLang="zh-TW" dirty="0"/>
              <a:t>Example: </a:t>
            </a:r>
            <a:r>
              <a:rPr lang="en-US" altLang="zh-TW" dirty="0"/>
              <a:t>Group_02_</a:t>
            </a:r>
            <a:r>
              <a:rPr kumimoji="1" lang="en-US" altLang="zh-TW" dirty="0"/>
              <a:t>WebGame.pptx</a:t>
            </a:r>
            <a:endParaRPr lang="en-US" altLang="zh-TW" dirty="0"/>
          </a:p>
          <a:p>
            <a:r>
              <a:rPr lang="en-US" altLang="zh-TW" b="1" dirty="0">
                <a:solidFill>
                  <a:srgbClr val="FF0000"/>
                </a:solidFill>
              </a:rPr>
              <a:t>5/7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(Thu)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Proposal Demo </a:t>
            </a:r>
          </a:p>
          <a:p>
            <a:pPr lvl="1"/>
            <a:r>
              <a:rPr lang="en-US" altLang="zh-TW" b="1" dirty="0">
                <a:solidFill>
                  <a:srgbClr val="FF0000"/>
                </a:solidFill>
                <a:highlight>
                  <a:srgbClr val="FFFF00"/>
                </a:highlight>
              </a:rPr>
              <a:t>6/13 (Sat) or 6/14</a:t>
            </a:r>
            <a:r>
              <a:rPr lang="zh-TW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highlight>
                  <a:srgbClr val="FFFF00"/>
                </a:highlight>
              </a:rPr>
              <a:t>(Sun)</a:t>
            </a:r>
            <a:r>
              <a:rPr lang="zh-TW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zh-TW" dirty="0">
                <a:highlight>
                  <a:srgbClr val="FFFF00"/>
                </a:highlight>
              </a:rPr>
              <a:t>Final Project Demo (tentative date)</a:t>
            </a:r>
          </a:p>
          <a:p>
            <a:pPr lvl="1"/>
            <a:endParaRPr lang="en-US" altLang="zh-TW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790584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74936"/>
            <a:ext cx="9144000" cy="3983064"/>
          </a:xfrm>
          <a:prstGeom prst="rect">
            <a:avLst/>
          </a:prstGeom>
        </p:spPr>
      </p:pic>
      <p:pic>
        <p:nvPicPr>
          <p:cNvPr id="6" name="Picture 5" descr="thank-you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0"/>
            <a:ext cx="4170733" cy="4325752"/>
          </a:xfrm>
          <a:prstGeom prst="rect">
            <a:avLst/>
          </a:prstGeom>
        </p:spPr>
      </p:pic>
      <p:grpSp>
        <p:nvGrpSpPr>
          <p:cNvPr id="7" name="群組 14"/>
          <p:cNvGrpSpPr/>
          <p:nvPr/>
        </p:nvGrpSpPr>
        <p:grpSpPr>
          <a:xfrm>
            <a:off x="7668344" y="5877272"/>
            <a:ext cx="1391012" cy="926572"/>
            <a:chOff x="3563888" y="4221088"/>
            <a:chExt cx="1391012" cy="926572"/>
          </a:xfrm>
        </p:grpSpPr>
        <p:pic>
          <p:nvPicPr>
            <p:cNvPr id="8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563888" y="4221088"/>
              <a:ext cx="936104" cy="9265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C:\Users\James\Downloads\GIF\清大LOGO(鳥)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4799" y="4511434"/>
              <a:ext cx="900101" cy="4488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4912510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ourse_PPTX_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5" id="{0BEFD3DD-8257-CC49-A72F-66F904296101}" vid="{352BCE09-1A75-9E41-8EDD-0FBD23D4AD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DB293D44-CF12-42FB-A90A-456DFC87D2D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Course_PPTX_Template</Template>
  <TotalTime>511</TotalTime>
  <Words>1431</Words>
  <Application>Microsoft Macintosh PowerPoint</Application>
  <PresentationFormat>On-screen Show (4:3)</PresentationFormat>
  <Paragraphs>145</Paragraphs>
  <Slides>33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標楷體</vt:lpstr>
      <vt:lpstr>Stencil Std</vt:lpstr>
      <vt:lpstr>華康中黑體</vt:lpstr>
      <vt:lpstr>Arial</vt:lpstr>
      <vt:lpstr>Calibri</vt:lpstr>
      <vt:lpstr>Course_PPTX_Theme</vt:lpstr>
      <vt:lpstr>Final Project Proposal</vt:lpstr>
      <vt:lpstr>Table of Contents</vt:lpstr>
      <vt:lpstr>Final project introduction</vt:lpstr>
      <vt:lpstr>About the Final Project…</vt:lpstr>
      <vt:lpstr>Why make a proposal?</vt:lpstr>
      <vt:lpstr>EXAMPLE TAIWANESE STUDENT</vt:lpstr>
      <vt:lpstr>Final Project Proposal</vt:lpstr>
      <vt:lpstr>1. Motivation</vt:lpstr>
      <vt:lpstr>1. Motivation</vt:lpstr>
      <vt:lpstr>2. User Story</vt:lpstr>
      <vt:lpstr>2. User Story</vt:lpstr>
      <vt:lpstr>3. Setting (Optional)</vt:lpstr>
      <vt:lpstr>3. Setting (Optional)</vt:lpstr>
      <vt:lpstr>4. Controls</vt:lpstr>
      <vt:lpstr>5. High Risk Analysis</vt:lpstr>
      <vt:lpstr>5. High Risk Analysis</vt:lpstr>
      <vt:lpstr>5. High Risk Analysis</vt:lpstr>
      <vt:lpstr>5. High Risk Analysis</vt:lpstr>
      <vt:lpstr>6. High Value Analysis</vt:lpstr>
      <vt:lpstr>6. High Value Analysis</vt:lpstr>
      <vt:lpstr>7. Similar Games</vt:lpstr>
      <vt:lpstr>7. Similar Games</vt:lpstr>
      <vt:lpstr>8. Concept Art</vt:lpstr>
      <vt:lpstr>8. Concept Art</vt:lpstr>
      <vt:lpstr>Reminders</vt:lpstr>
      <vt:lpstr>Do not write these</vt:lpstr>
      <vt:lpstr>Abstract the details!</vt:lpstr>
      <vt:lpstr>Do not write these</vt:lpstr>
      <vt:lpstr>Remember…</vt:lpstr>
      <vt:lpstr>Extra Resources</vt:lpstr>
      <vt:lpstr>Extra Resources</vt:lpstr>
      <vt:lpstr>Schedule and Formats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Title</dc:title>
  <dc:creator>Windows 使用者</dc:creator>
  <cp:lastModifiedBy>Joshua Lean</cp:lastModifiedBy>
  <cp:revision>235</cp:revision>
  <cp:lastPrinted>1601-01-01T00:00:00Z</cp:lastPrinted>
  <dcterms:created xsi:type="dcterms:W3CDTF">2018-01-25T06:12:58Z</dcterms:created>
  <dcterms:modified xsi:type="dcterms:W3CDTF">2026-04-19T03:45:56Z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TC062560581033</vt:lpwstr>
  </property>
</Properties>
</file>