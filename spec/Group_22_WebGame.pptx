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No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EsaUXqAptFQmsOTa1YJo04AVG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-bold.fntdata"/><Relationship Id="rId16" Type="http://schemas.openxmlformats.org/officeDocument/2006/relationships/font" Target="fonts/NotoSans-regular.fntdata"/><Relationship Id="rId5" Type="http://schemas.openxmlformats.org/officeDocument/2006/relationships/slide" Target="slides/slide1.xml"/><Relationship Id="rId19" Type="http://schemas.openxmlformats.org/officeDocument/2006/relationships/font" Target="fonts/NotoSans-boldItalic.fntdata"/><Relationship Id="rId6" Type="http://schemas.openxmlformats.org/officeDocument/2006/relationships/slide" Target="slides/slide2.xml"/><Relationship Id="rId18" Type="http://schemas.openxmlformats.org/officeDocument/2006/relationships/font" Target="fonts/No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cinematic_sci_fi_platformer_game_concept_art_3.png" id="16" name="Google Shape;16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>
              <a:alpha val="54901"/>
            </a:srgbClr>
          </a:solidFill>
          <a:ln cap="flat" cmpd="sng" w="12700">
            <a:solidFill>
              <a:srgbClr val="070B1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>
              <a:alpha val="52156"/>
            </a:srgbClr>
          </a:solidFill>
          <a:ln cap="flat" cmpd="sng" w="12700">
            <a:solidFill>
              <a:srgbClr val="070B1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58368" y="2670048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4500"/>
              <a:buFont typeface="Noto Sans"/>
              <a:buNone/>
            </a:pPr>
            <a:r>
              <a:rPr b="1" i="0" lang="en-US" sz="45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</a:t>
            </a:r>
            <a:endParaRPr b="0" i="0" sz="4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341071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9FF"/>
              </a:buClr>
              <a:buSzPts val="1900"/>
              <a:buFont typeface="Noto Sans"/>
              <a:buNone/>
            </a:pPr>
            <a:r>
              <a:rPr b="1" i="0" lang="en-US" sz="1900" u="none" cap="none" strike="noStrike">
                <a:solidFill>
                  <a:srgbClr val="31D9FF"/>
                </a:solidFill>
                <a:latin typeface="Noto Sans"/>
                <a:ea typeface="Noto Sans"/>
                <a:cs typeface="Noto Sans"/>
                <a:sym typeface="Noto Sans"/>
              </a:rPr>
              <a:t>重力翻轉橫向跑酷 proposal</a:t>
            </a:r>
            <a:endParaRPr b="0" i="0" sz="1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1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5800" y="3836300"/>
            <a:ext cx="15807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100"/>
              <a:buFont typeface="Noto Sans"/>
              <a:buNone/>
            </a:pPr>
            <a:r>
              <a:rPr b="1" lang="en-US" sz="1800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第 22 組</a:t>
            </a:r>
            <a:endParaRPr b="0" i="0" sz="18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85800" y="4192100"/>
            <a:ext cx="442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100"/>
              <a:buFont typeface="Noto Sans"/>
              <a:buNone/>
            </a:pPr>
            <a:r>
              <a:rPr b="1" lang="en-US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謝牧懷、游家齊、林翊慈、李其樺、林鼎陽</a:t>
            </a:r>
            <a:endParaRPr b="0" i="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Game Concept｜遊戲核心概念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在單一關卡通道中，以翻轉重力在地板與天花板間切換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777240" y="1481328"/>
            <a:ext cx="64008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950"/>
              <a:buFont typeface="Noto Sans"/>
              <a:buNone/>
            </a:pPr>
            <a:r>
              <a:rPr b="1" i="0" lang="en-US" sz="19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玩家在自動向前移動的橫向關卡中前進，只需要抓準時機按下翻轉鍵，讓角色吸附到地板或天花板，避開陷阱、穿越缺口，並抵達終點。</a:t>
            </a:r>
            <a:endParaRPr b="0" i="0" sz="1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2743200"/>
            <a:ext cx="3291840" cy="1417320"/>
          </a:xfrm>
          <a:prstGeom prst="roundRect">
            <a:avLst>
              <a:gd fmla="val 6452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77240" y="2743200"/>
            <a:ext cx="54864" cy="141732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005840" y="29077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Core Loop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05840" y="3310128"/>
            <a:ext cx="28803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觀察前方地形 → 翻轉重力 → 躲避陷阱 → 收集能量 → 抵達終點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434840" y="2743200"/>
            <a:ext cx="3291840" cy="1417320"/>
          </a:xfrm>
          <a:prstGeom prst="roundRect">
            <a:avLst>
              <a:gd fmla="val 6452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434840" y="2743200"/>
            <a:ext cx="54864" cy="141732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663440" y="29077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Main Challenge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63440" y="3310128"/>
            <a:ext cx="28803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玩家不能靠左右微調修正，只能用翻轉時機與節奏感通過障礙。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092440" y="2743200"/>
            <a:ext cx="3291840" cy="1417320"/>
          </a:xfrm>
          <a:prstGeom prst="roundRect">
            <a:avLst>
              <a:gd fmla="val 6452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092440" y="2743200"/>
            <a:ext cx="54864" cy="141732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321040" y="29077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Player Fantasy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321040" y="3310128"/>
            <a:ext cx="28803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像在失重設施中高速跑酷，利用重力顛倒做出俐落又刺激的通關。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ghostwriter_images/generated/wide_cinematic_sci_fi_platformer_game_concept_art_3.png" id="50" name="Google Shape;50;p2"/>
          <p:cNvPicPr preferRelativeResize="0"/>
          <p:nvPr/>
        </p:nvPicPr>
        <p:blipFill rotWithShape="1">
          <a:blip r:embed="rId3">
            <a:alphaModFix/>
          </a:blip>
          <a:srcRect b="22591" l="0" r="0" t="22591"/>
          <a:stretch/>
        </p:blipFill>
        <p:spPr>
          <a:xfrm>
            <a:off x="7315200" y="1170432"/>
            <a:ext cx="42976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2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cinematic_sci_fi_platformer_game_concept_art_3.png" id="57" name="Google Shape;57;p3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>
              <a:alpha val="54901"/>
            </a:srgbClr>
          </a:solidFill>
          <a:ln cap="flat" cmpd="sng" w="12700">
            <a:solidFill>
              <a:srgbClr val="070B1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1. Motivation｜動機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為什麼想做這個遊戲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/>
          <p:nvPr/>
        </p:nvSpPr>
        <p:spPr>
          <a:xfrm>
            <a:off x="658368" y="1371600"/>
            <a:ext cx="3337560" cy="4160520"/>
          </a:xfrm>
          <a:prstGeom prst="roundRect">
            <a:avLst>
              <a:gd fmla="val 2740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58368" y="1371600"/>
            <a:ext cx="54864" cy="416052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86968" y="153619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容易理解，容易展示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86968" y="1938528"/>
            <a:ext cx="292608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我們想做一款在 demo 時能立刻看懂的遊戲：角色持續前進，玩家只要掌握「何時翻轉重力」這個核心行為。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434840" y="1371600"/>
            <a:ext cx="3337560" cy="4160520"/>
          </a:xfrm>
          <a:prstGeom prst="roundRect">
            <a:avLst>
              <a:gd fmla="val 2740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434840" y="1371600"/>
            <a:ext cx="54864" cy="416052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663440" y="153619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技術挑戰剛好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663440" y="1938528"/>
            <a:ext cx="292608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這類橫向跑酷包含碰撞、角色控制、關卡設計、UI、動畫與音效，能完整練習 Cocos Creator 的核心技術。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11312" y="1371600"/>
            <a:ext cx="3337560" cy="4160520"/>
          </a:xfrm>
          <a:prstGeom prst="roundRect">
            <a:avLst>
              <a:gd fmla="val 2740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8211312" y="1371600"/>
            <a:ext cx="54864" cy="416052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439912" y="153619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可擴充性高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439912" y="1938528"/>
            <a:ext cx="292608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先完成基本重力翻轉跑酷，再逐步加入道具、特殊機關、計時挑戰與排行榜等內容。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3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2. User Story｜使用者故事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以玩家為主詞描述體驗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7" name="Google Shape;87;p4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"/>
          <p:cNvSpPr/>
          <p:nvPr/>
        </p:nvSpPr>
        <p:spPr>
          <a:xfrm>
            <a:off x="685800" y="1325880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玩家扮演一名逃離實驗設施的跑者，在單一通道中不停前進，必須利用重力翻轉吸附到地板或天花板，穿越尖刺、平台與能量機關。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49808" y="2743200"/>
            <a:ext cx="1234440" cy="1234440"/>
          </a:xfrm>
          <a:prstGeom prst="ellipse">
            <a:avLst/>
          </a:prstGeom>
          <a:solidFill>
            <a:srgbClr val="31D9FF">
              <a:alpha val="81960"/>
            </a:srgbClr>
          </a:solidFill>
          <a:ln cap="flat" cmpd="sng" w="1905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179576" y="29992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21208" y="41879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Start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9184" y="4590288"/>
            <a:ext cx="2057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進入關卡後角色會自動向前奔跑。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2048256" y="3364992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7E8D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4"/>
          <p:cNvSpPr/>
          <p:nvPr/>
        </p:nvSpPr>
        <p:spPr>
          <a:xfrm>
            <a:off x="2990088" y="2743200"/>
            <a:ext cx="1234440" cy="1234440"/>
          </a:xfrm>
          <a:prstGeom prst="ellipse">
            <a:avLst/>
          </a:prstGeom>
          <a:solidFill>
            <a:srgbClr val="FFB441">
              <a:alpha val="81960"/>
            </a:srgbClr>
          </a:solidFill>
          <a:ln cap="flat" cmpd="sng" w="19050">
            <a:solidFill>
              <a:srgbClr val="FFB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419856" y="29992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761488" y="41879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Read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569464" y="4590288"/>
            <a:ext cx="2057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觀察前方的平台、缺口與尖刺位置。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4288536" y="3364992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7E8D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4"/>
          <p:cNvSpPr/>
          <p:nvPr/>
        </p:nvSpPr>
        <p:spPr>
          <a:xfrm>
            <a:off x="5230368" y="2743200"/>
            <a:ext cx="1234440" cy="1234440"/>
          </a:xfrm>
          <a:prstGeom prst="ellipse">
            <a:avLst/>
          </a:prstGeom>
          <a:solidFill>
            <a:srgbClr val="31D9FF">
              <a:alpha val="81960"/>
            </a:srgbClr>
          </a:solidFill>
          <a:ln cap="flat" cmpd="sng" w="1905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660136" y="29992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001768" y="41879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Flip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809744" y="4590288"/>
            <a:ext cx="2057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在正確時機按鍵翻轉重力，切換到地板或天花板。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6528816" y="3364992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7E8D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4"/>
          <p:cNvSpPr/>
          <p:nvPr/>
        </p:nvSpPr>
        <p:spPr>
          <a:xfrm>
            <a:off x="7470648" y="2743200"/>
            <a:ext cx="1234440" cy="1234440"/>
          </a:xfrm>
          <a:prstGeom prst="ellipse">
            <a:avLst/>
          </a:prstGeom>
          <a:solidFill>
            <a:srgbClr val="FFB441">
              <a:alpha val="81960"/>
            </a:srgbClr>
          </a:solidFill>
          <a:ln cap="flat" cmpd="sng" w="19050">
            <a:solidFill>
              <a:srgbClr val="FFB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900416" y="29992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242048" y="41879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Collect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050024" y="4590288"/>
            <a:ext cx="2057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沿路收集能量晶體，累積分數或挑戰完整收集。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8" name="Google Shape;108;p4"/>
          <p:cNvCxnSpPr/>
          <p:nvPr/>
        </p:nvCxnSpPr>
        <p:spPr>
          <a:xfrm>
            <a:off x="8769096" y="3364992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7E8D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4"/>
          <p:cNvSpPr/>
          <p:nvPr/>
        </p:nvSpPr>
        <p:spPr>
          <a:xfrm>
            <a:off x="9710928" y="2743200"/>
            <a:ext cx="1234440" cy="1234440"/>
          </a:xfrm>
          <a:prstGeom prst="ellipse">
            <a:avLst/>
          </a:prstGeom>
          <a:solidFill>
            <a:srgbClr val="31D9FF">
              <a:alpha val="81960"/>
            </a:srgbClr>
          </a:solidFill>
          <a:ln cap="flat" cmpd="sng" w="1905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0140696" y="299923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482328" y="418795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Finish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290304" y="4590288"/>
            <a:ext cx="2057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安全抵達出口傳送門後通關並解鎖下一關。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4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cinematic_sci_fi_platformer_game_concept_art_3.png" id="119" name="Google Shape;119;p5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>
              <a:alpha val="54901"/>
            </a:srgbClr>
          </a:solidFill>
          <a:ln cap="flat" cmpd="sng" w="12700">
            <a:solidFill>
              <a:srgbClr val="070B1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3. Setting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｜遊戲背景故事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簡短世界觀：能在遊戲中被看見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713232" y="132588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050"/>
              <a:buFont typeface="Noto Sans"/>
              <a:buNone/>
            </a:pPr>
            <a:r>
              <a:rPr b="1" i="0" lang="en-US" sz="20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反重力實驗城市「Astra-9」失控後，設施內的重力方向變得不穩定。玩家手上的重力裝置能讓自己在</a:t>
            </a:r>
            <a:r>
              <a:rPr b="1" i="0" lang="en-US" sz="20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單一</a:t>
            </a:r>
            <a:r>
              <a:rPr b="1" i="0" lang="en-US" sz="20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通道內吸附到地板或天花板，穿越崩壞中的設施並逃離核心區域。</a:t>
            </a:r>
            <a:endParaRPr b="0" i="0" sz="2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49808" y="3200400"/>
            <a:ext cx="3154680" cy="1463040"/>
          </a:xfrm>
          <a:prstGeom prst="roundRect">
            <a:avLst>
              <a:gd fmla="val 6250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49808" y="3200400"/>
            <a:ext cx="54864" cy="146304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978408" y="336499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視覺風格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78408" y="3767328"/>
            <a:ext cx="27432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霓虹科幻城市、工業設施走廊、藍橘對比的重力效果。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251960" y="3200400"/>
            <a:ext cx="3154680" cy="1463040"/>
          </a:xfrm>
          <a:prstGeom prst="roundRect">
            <a:avLst>
              <a:gd fmla="val 6250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251960" y="3200400"/>
            <a:ext cx="54864" cy="146304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480560" y="336499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關卡主題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480560" y="3767328"/>
            <a:ext cx="27432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研究實驗室、空中通道、能源反應區、核心傳送設施。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754112" y="3200400"/>
            <a:ext cx="3154680" cy="1463040"/>
          </a:xfrm>
          <a:prstGeom prst="roundRect">
            <a:avLst>
              <a:gd fmla="val 6250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754112" y="3200400"/>
            <a:ext cx="54864" cy="146304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982712" y="336499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故事呈現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982712" y="3767328"/>
            <a:ext cx="27432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不用大量文字，而是透過背景、裝置、提示牌與關卡名稱傳達情境。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5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4. Controls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｜操作方式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簡化按鍵，專注在重力翻轉本身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0" name="Google Shape;150;p6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685800" y="1417320"/>
            <a:ext cx="3566160" cy="4251960"/>
          </a:xfrm>
          <a:prstGeom prst="roundRect">
            <a:avLst>
              <a:gd fmla="val 2564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85800" y="1417320"/>
            <a:ext cx="54864" cy="425196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14400" y="15819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Keyboard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914400" y="1984248"/>
            <a:ext cx="3154680" cy="3557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Space / W / ↑：翻轉重力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R：快速重新開始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Esc：暫停選單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26280" y="1417320"/>
            <a:ext cx="3566160" cy="4251960"/>
          </a:xfrm>
          <a:prstGeom prst="roundRect">
            <a:avLst>
              <a:gd fmla="val 2564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526280" y="1417320"/>
            <a:ext cx="54864" cy="425196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754880" y="15819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Mouse / UI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754880" y="1984248"/>
            <a:ext cx="3154680" cy="3557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滑鼠點擊開始遊戲、關卡選擇、暫停選單與重新挑戰按鈕。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366760" y="1417320"/>
            <a:ext cx="3108960" cy="4251960"/>
          </a:xfrm>
          <a:prstGeom prst="roundRect">
            <a:avLst>
              <a:gd fmla="val 2941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366760" y="1417320"/>
            <a:ext cx="54864" cy="425196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595360" y="158191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Design Goal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595360" y="1984248"/>
            <a:ext cx="2697480" cy="3557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角色會自動向前移動，因此玩家不需要 A / D。所有注意力都集中在觀察路線與翻轉時機。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188720" y="4389120"/>
            <a:ext cx="1508760" cy="347472"/>
          </a:xfrm>
          <a:prstGeom prst="roundRect">
            <a:avLst>
              <a:gd fmla="val 13158" name="adj"/>
            </a:avLst>
          </a:prstGeom>
          <a:solidFill>
            <a:srgbClr val="0E1427"/>
          </a:solidFill>
          <a:ln cap="flat" cmpd="sng" w="12700">
            <a:solidFill>
              <a:srgbClr val="31D9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225296" y="4480560"/>
            <a:ext cx="1435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Space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788920" y="4389120"/>
            <a:ext cx="822960" cy="347472"/>
          </a:xfrm>
          <a:prstGeom prst="roundRect">
            <a:avLst>
              <a:gd fmla="val 13158" name="adj"/>
            </a:avLst>
          </a:prstGeom>
          <a:solidFill>
            <a:srgbClr val="0E1427"/>
          </a:solidFill>
          <a:ln cap="flat" cmpd="sng" w="12700">
            <a:solidFill>
              <a:srgbClr val="31D9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825496" y="4480560"/>
            <a:ext cx="7498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W / ↑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691640" y="4919472"/>
            <a:ext cx="502920" cy="347472"/>
          </a:xfrm>
          <a:prstGeom prst="roundRect">
            <a:avLst>
              <a:gd fmla="val 13158" name="adj"/>
            </a:avLst>
          </a:prstGeom>
          <a:solidFill>
            <a:srgbClr val="0E1427"/>
          </a:solidFill>
          <a:ln cap="flat" cmpd="sng" w="12700">
            <a:solidFill>
              <a:srgbClr val="31D9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728216" y="5010912"/>
            <a:ext cx="42976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R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377440" y="4919472"/>
            <a:ext cx="685800" cy="347472"/>
          </a:xfrm>
          <a:prstGeom prst="roundRect">
            <a:avLst>
              <a:gd fmla="val 13158" name="adj"/>
            </a:avLst>
          </a:prstGeom>
          <a:solidFill>
            <a:srgbClr val="0E1427"/>
          </a:solidFill>
          <a:ln cap="flat" cmpd="sng" w="12700">
            <a:solidFill>
              <a:srgbClr val="31D9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414016" y="5010912"/>
            <a:ext cx="6126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Esc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6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5. High Risk Analysis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｜高風險分析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先做不好就會讓遊戲不可玩 / 不好玩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7"/>
          <p:cNvSpPr/>
          <p:nvPr/>
        </p:nvSpPr>
        <p:spPr>
          <a:xfrm>
            <a:off x="731520" y="1234440"/>
            <a:ext cx="10744200" cy="685800"/>
          </a:xfrm>
          <a:prstGeom prst="roundRect">
            <a:avLst>
              <a:gd fmla="val 8000" name="adj"/>
            </a:avLst>
          </a:prstGeom>
          <a:solidFill>
            <a:srgbClr val="121B33">
              <a:alpha val="96862"/>
            </a:srgbClr>
          </a:solidFill>
          <a:ln cap="flat" cmpd="sng" w="12700">
            <a:solidFill>
              <a:srgbClr val="31D9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987552" y="139903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重力翻轉物理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456432" y="1399032"/>
            <a:ext cx="7543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角色翻轉後的速度、碰撞與吸附判定要穩定，不能穿牆、抖動或卡住。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31520" y="2194560"/>
            <a:ext cx="10744200" cy="685800"/>
          </a:xfrm>
          <a:prstGeom prst="roundRect">
            <a:avLst>
              <a:gd fmla="val 8000" name="adj"/>
            </a:avLst>
          </a:prstGeom>
          <a:solidFill>
            <a:srgbClr val="17213D">
              <a:alpha val="96862"/>
            </a:srgbClr>
          </a:solidFill>
          <a:ln cap="flat" cmpd="sng" w="12700">
            <a:solidFill>
              <a:srgbClr val="FFB44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987552" y="23591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跑酷手感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456432" y="2359152"/>
            <a:ext cx="7543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自動前進速度、翻轉延遲與鏡頭跟隨會直接影響遊戲是否順暢。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31520" y="3154680"/>
            <a:ext cx="10744200" cy="685800"/>
          </a:xfrm>
          <a:prstGeom prst="roundRect">
            <a:avLst>
              <a:gd fmla="val 8000" name="adj"/>
            </a:avLst>
          </a:prstGeom>
          <a:solidFill>
            <a:srgbClr val="121B33">
              <a:alpha val="96862"/>
            </a:srgbClr>
          </a:solidFill>
          <a:ln cap="flat" cmpd="sng" w="12700">
            <a:solidFill>
              <a:srgbClr val="31D9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987552" y="33192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關卡可玩性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456432" y="3319272"/>
            <a:ext cx="7543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地板 / 天花板兩側的障礙配置、反應時間與難度曲線要合理。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31520" y="4114800"/>
            <a:ext cx="10744200" cy="685800"/>
          </a:xfrm>
          <a:prstGeom prst="roundRect">
            <a:avLst>
              <a:gd fmla="val 8000" name="adj"/>
            </a:avLst>
          </a:prstGeom>
          <a:solidFill>
            <a:srgbClr val="17213D">
              <a:alpha val="96862"/>
            </a:srgbClr>
          </a:solidFill>
          <a:ln cap="flat" cmpd="sng" w="12700">
            <a:solidFill>
              <a:srgbClr val="FFB44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987552" y="427939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碰撞與死亡判定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456432" y="4279392"/>
            <a:ext cx="7543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尖刺、平台邊緣、掉出場景等判定要清楚，玩家失敗原因要公平。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1520" y="5074920"/>
            <a:ext cx="10744200" cy="685800"/>
          </a:xfrm>
          <a:prstGeom prst="roundRect">
            <a:avLst>
              <a:gd fmla="val 8000" name="adj"/>
            </a:avLst>
          </a:prstGeom>
          <a:solidFill>
            <a:srgbClr val="121B33">
              <a:alpha val="96862"/>
            </a:srgbClr>
          </a:solidFill>
          <a:ln cap="flat" cmpd="sng" w="12700">
            <a:solidFill>
              <a:srgbClr val="31D9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987552" y="523951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Cocos 場景整合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456432" y="5239512"/>
            <a:ext cx="7543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角色、地圖、UI、音效與關卡切換要能整合成完整流程。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7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cinematic_sci_fi_platformer_game_concept_art_3.png" id="204" name="Google Shape;204;p8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>
              <a:alpha val="54901"/>
            </a:srgbClr>
          </a:solidFill>
          <a:ln cap="flat" cmpd="sng" w="12700">
            <a:solidFill>
              <a:srgbClr val="070B1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6. High Value Analysis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｜高價值分析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核心完成後，讓遊戲更有記憶點的功能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0" name="Google Shape;210;p8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8"/>
          <p:cNvSpPr/>
          <p:nvPr/>
        </p:nvSpPr>
        <p:spPr>
          <a:xfrm>
            <a:off x="685800" y="1417320"/>
            <a:ext cx="3273552" cy="4069080"/>
          </a:xfrm>
          <a:prstGeom prst="roundRect">
            <a:avLst>
              <a:gd fmla="val 2793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85800" y="1417320"/>
            <a:ext cx="54864" cy="406908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914400" y="158191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特殊道具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14400" y="1984248"/>
            <a:ext cx="2862072" cy="33741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短暫慢動作、護盾、磁吸收集物、衝刺等，增加策略與爽感。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453128" y="1417320"/>
            <a:ext cx="3273552" cy="4069080"/>
          </a:xfrm>
          <a:prstGeom prst="roundRect">
            <a:avLst>
              <a:gd fmla="val 2793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453128" y="1417320"/>
            <a:ext cx="54864" cy="406908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681728" y="158191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特殊機關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681728" y="1984248"/>
            <a:ext cx="2862072" cy="33741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重力門、移動平台、反轉區域、限時開關等，讓關卡節奏更有變化。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220456" y="1417320"/>
            <a:ext cx="3273552" cy="4069080"/>
          </a:xfrm>
          <a:prstGeom prst="roundRect">
            <a:avLst>
              <a:gd fmla="val 2793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220456" y="1417320"/>
            <a:ext cx="54864" cy="406908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8449056" y="158191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成就與排行榜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449056" y="1984248"/>
            <a:ext cx="2862072" cy="33741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通關時間、收集率、死亡次數、無傷通關，鼓勵玩家重玩與挑戰。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8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7. Similar Games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｜類似</a:t>
            </a:r>
            <a:r>
              <a:rPr b="1" lang="en-US" sz="3000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概念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遊戲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觀察同類型遊戲，抓出可學習的核心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9"/>
          <p:cNvSpPr/>
          <p:nvPr/>
        </p:nvSpPr>
        <p:spPr>
          <a:xfrm>
            <a:off x="685800" y="1325880"/>
            <a:ext cx="3383280" cy="4434840"/>
          </a:xfrm>
          <a:prstGeom prst="roundRect">
            <a:avLst>
              <a:gd fmla="val 2703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85800" y="1325880"/>
            <a:ext cx="54864" cy="443484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914400" y="149047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VVVVVV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14400" y="1892808"/>
            <a:ext cx="297180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重力翻轉平台遊戲。可參考它用「翻轉」取代傳統跳躍，讓關卡閱讀與解謎非常直覺。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434840" y="1325880"/>
            <a:ext cx="3383280" cy="4434840"/>
          </a:xfrm>
          <a:prstGeom prst="roundRect">
            <a:avLst>
              <a:gd fmla="val 2703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434840" y="1325880"/>
            <a:ext cx="54864" cy="443484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663440" y="149047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Geometry Dash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663440" y="1892808"/>
            <a:ext cx="297180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強節奏的橫向跑酷。可參考障礙節奏、失敗重試與關卡記憶的設計。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183880" y="1325880"/>
            <a:ext cx="3383280" cy="4434840"/>
          </a:xfrm>
          <a:prstGeom prst="roundRect">
            <a:avLst>
              <a:gd fmla="val 2703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183880" y="1325880"/>
            <a:ext cx="54864" cy="443484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412480" y="149047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Run 3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412480" y="1892808"/>
            <a:ext cx="297180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高速前進與空間感很強的跑酷遊戲，可參考關卡速度感與連續跳台配置。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77240" y="6053328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520"/>
              <a:buFont typeface="Noto Sans"/>
              <a:buNone/>
            </a:pPr>
            <a:r>
              <a:rPr b="1" i="0" lang="en-US" sz="152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我們的差異化：更聚焦於「單一通道 + 重力翻轉」的即時判斷，以及科幻設施中的速度感。</a:t>
            </a:r>
            <a:endParaRPr b="0" i="0" sz="15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9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38" y="2726275"/>
            <a:ext cx="2789801" cy="2789801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0" name="Google Shape;25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574" y="2726273"/>
            <a:ext cx="2789800" cy="278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0626" y="2768413"/>
            <a:ext cx="2897350" cy="2317874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8. Concept Art</a:t>
            </a: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｜模擬 / 假想畫面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團隊對畫面與玩法的共同想像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2" name="Google Shape;262;p10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ghostwriter_images/generated/wide_cinematic_sci_fi_platformer_game_concept_art_3.png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10048" r="10048" t="0"/>
          <a:stretch/>
        </p:blipFill>
        <p:spPr>
          <a:xfrm>
            <a:off x="685800" y="1234440"/>
            <a:ext cx="5257800" cy="370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ghostwriter_images/generated/a_wide_cinematic_concept_art_game_ui_style_scen_2_batch_2.png" id="264" name="Google Shape;264;p10"/>
          <p:cNvPicPr preferRelativeResize="0"/>
          <p:nvPr/>
        </p:nvPicPr>
        <p:blipFill rotWithShape="1">
          <a:blip r:embed="rId4">
            <a:alphaModFix/>
          </a:blip>
          <a:srcRect b="0" l="10048" r="10048" t="0"/>
          <a:stretch/>
        </p:blipFill>
        <p:spPr>
          <a:xfrm>
            <a:off x="6245352" y="1234440"/>
            <a:ext cx="5257800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777240" y="5157216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40"/>
              <a:buFont typeface="Noto Sans"/>
              <a:buNone/>
            </a:pPr>
            <a:r>
              <a:rPr b="0" i="0" lang="en-US" sz="124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主畫面：單一跑道中翻轉重力，穿越尖刺、跳台與出口傳送門。</a:t>
            </a:r>
            <a:endParaRPr b="0" i="0" sz="12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336792" y="5157216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240"/>
              <a:buFont typeface="Noto Sans"/>
              <a:buNone/>
            </a:pPr>
            <a:r>
              <a:rPr b="0" i="0" lang="en-US" sz="124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概念示意：同一關卡內在地板與天花板切換，強調收集、風險與節奏。</a:t>
            </a:r>
            <a:endParaRPr b="0" i="0" sz="12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143000" y="5833872"/>
            <a:ext cx="9921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最小可行版本：一名玩家、3 個關卡、死亡 / 通關流程、基本 UI 與音效。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10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7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7"/>
          </a:solidFill>
          <a:ln cap="flat" cmpd="sng" w="12700">
            <a:solidFill>
              <a:srgbClr val="070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1D9FF">
              <a:alpha val="74901"/>
            </a:srgbClr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441">
              <a:alpha val="74901"/>
            </a:srgbClr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Development Blueprint｜開發藍圖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12648" y="850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先完成核心，再加強內容與表現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9" name="Google Shape;279;p11"/>
          <p:cNvCxnSpPr/>
          <p:nvPr/>
        </p:nvCxnSpPr>
        <p:spPr>
          <a:xfrm>
            <a:off x="594360" y="1124712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31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1"/>
          <p:cNvSpPr/>
          <p:nvPr/>
        </p:nvSpPr>
        <p:spPr>
          <a:xfrm>
            <a:off x="685800" y="1417320"/>
            <a:ext cx="3246120" cy="4160520"/>
          </a:xfrm>
          <a:prstGeom prst="roundRect">
            <a:avLst>
              <a:gd fmla="val 2817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31D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685800" y="1417320"/>
            <a:ext cx="54864" cy="4160520"/>
          </a:xfrm>
          <a:prstGeom prst="rect">
            <a:avLst/>
          </a:prstGeom>
          <a:solidFill>
            <a:srgbClr val="31D9FF"/>
          </a:solidFill>
          <a:ln cap="flat" cmpd="sng" w="12700">
            <a:solidFill>
              <a:srgbClr val="31D9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914400" y="158191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Milestone 1｜Playable Core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14400" y="1984248"/>
            <a:ext cx="283464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角色自動前進、重力翻轉、平台碰撞、死亡重新開始。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462272" y="1417320"/>
            <a:ext cx="3246120" cy="4160520"/>
          </a:xfrm>
          <a:prstGeom prst="roundRect">
            <a:avLst>
              <a:gd fmla="val 2817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B44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462272" y="1417320"/>
            <a:ext cx="54864" cy="4160520"/>
          </a:xfrm>
          <a:prstGeom prst="rect">
            <a:avLst/>
          </a:prstGeom>
          <a:solidFill>
            <a:srgbClr val="FFB441"/>
          </a:solidFill>
          <a:ln cap="flat" cmpd="sng" w="12700">
            <a:solidFill>
              <a:srgbClr val="FFB4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690872" y="158191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Milestone 2｜Level Flow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690872" y="1984248"/>
            <a:ext cx="283464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關卡設計、終點傳送門、關卡選單、分數與計時。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8238744" y="1417320"/>
            <a:ext cx="3246120" cy="4160520"/>
          </a:xfrm>
          <a:prstGeom prst="roundRect">
            <a:avLst>
              <a:gd fmla="val 2817" name="adj"/>
            </a:avLst>
          </a:prstGeom>
          <a:solidFill>
            <a:srgbClr val="121B33">
              <a:alpha val="96078"/>
            </a:srgbClr>
          </a:solidFill>
          <a:ln cap="flat" cmpd="sng" w="13950">
            <a:solidFill>
              <a:srgbClr val="FF4F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8238744" y="1417320"/>
            <a:ext cx="54864" cy="4160520"/>
          </a:xfrm>
          <a:prstGeom prst="rect">
            <a:avLst/>
          </a:prstGeom>
          <a:solidFill>
            <a:srgbClr val="FF4FD8"/>
          </a:solidFill>
          <a:ln cap="flat" cmpd="sng" w="12700">
            <a:solidFill>
              <a:srgbClr val="FF4F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8467344" y="158191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Milestone 3｜Polish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8467344" y="1984248"/>
            <a:ext cx="2834640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8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C7D4E8"/>
                </a:solidFill>
                <a:latin typeface="Noto Sans"/>
                <a:ea typeface="Noto Sans"/>
                <a:cs typeface="Noto Sans"/>
                <a:sym typeface="Noto Sans"/>
              </a:rPr>
              <a:t>動畫、音效、粒子效果、成就或排行榜。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914400" y="5925312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BFF"/>
                </a:solidFill>
                <a:latin typeface="Noto Sans"/>
                <a:ea typeface="Noto Sans"/>
                <a:cs typeface="Noto Sans"/>
                <a:sym typeface="Noto Sans"/>
              </a:rPr>
              <a:t>成功標準：demo 時玩家能在 1 分鐘內理解玩法，並完成至少一個完整關卡。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601200" y="656539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DA6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7E8DA6"/>
                </a:solidFill>
                <a:latin typeface="Noto Sans"/>
                <a:ea typeface="Noto Sans"/>
                <a:cs typeface="Noto Sans"/>
                <a:sym typeface="Noto Sans"/>
              </a:rPr>
              <a:t>Gravity Flip Runner Proposal  /  11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2026-05-05T11:32:13Z</dcterms:created>
  <dc:creator>ChatGPT</dc:creator>
</cp:coreProperties>
</file>